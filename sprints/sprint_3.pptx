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57" r:id="rId4"/>
    <p:sldId id="258" r:id="rId5"/>
  </p:sldIdLst>
  <p:sldSz cx="12192000" cy="6858000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3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ídio Oliveira" initials="IO" lastIdx="2" clrIdx="0">
    <p:extLst>
      <p:ext uri="{19B8F6BF-5375-455C-9EA6-DF929625EA0E}">
        <p15:presenceInfo xmlns:p15="http://schemas.microsoft.com/office/powerpoint/2012/main" userId="S::ico@ua.pt::2e6e6f6d-fff9-46ef-9091-884c6980c7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3487"/>
  </p:normalViewPr>
  <p:slideViewPr>
    <p:cSldViewPr snapToGrid="0">
      <p:cViewPr varScale="1">
        <p:scale>
          <a:sx n="77" d="100"/>
          <a:sy n="77" d="100"/>
        </p:scale>
        <p:origin x="806" y="62"/>
      </p:cViewPr>
      <p:guideLst>
        <p:guide orient="horz" pos="2160"/>
        <p:guide pos="3840"/>
        <p:guide pos="393"/>
        <p:guide pos="7305"/>
      </p:guideLst>
    </p:cSldViewPr>
  </p:slideViewPr>
  <p:outlineViewPr>
    <p:cViewPr>
      <p:scale>
        <a:sx n="33" d="100"/>
        <a:sy n="33" d="100"/>
      </p:scale>
      <p:origin x="0" y="-66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5" d="100"/>
        <a:sy n="145" d="100"/>
      </p:scale>
      <p:origin x="0" y="167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8EFD9D37-A775-CE45-B921-68D592DCA8B7}" type="datetimeFigureOut">
              <a:rPr lang="en-US"/>
              <a:pPr>
                <a:defRPr/>
              </a:pPr>
              <a:t>24-Nov-25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3BEAF6FA-A1A8-B54C-B405-E45F373A6B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62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F9F373F6-AB6D-3948-B9A6-C223395DEAFB}" type="datetimeFigureOut">
              <a:rPr lang="en-US"/>
              <a:pPr>
                <a:defRPr/>
              </a:pPr>
              <a:t>24-Nov-25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43537" cy="4475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B973E424-A531-7149-99CE-1FD710C32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3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6125"/>
            <a:ext cx="66294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3E424-A531-7149-99CE-1FD710C32B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4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650555"/>
            <a:ext cx="10363200" cy="1056325"/>
          </a:xfrm>
        </p:spPr>
        <p:txBody>
          <a:bodyPr anchor="t"/>
          <a:lstStyle>
            <a:lvl1pPr algn="l">
              <a:defRPr lang="en-US" sz="2800" b="1" kern="1200" dirty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pt-PT" dirty="0" err="1"/>
              <a:t>Title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CA189C-64E7-6E4C-9A26-9A8BDC2947B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04160" y="3058160"/>
            <a:ext cx="8473440" cy="302768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rgbClr val="339933"/>
              </a:buClr>
              <a:buSzPct val="100000"/>
              <a:buFont typeface="Wingdings" pitchFamily="2" charset="2"/>
              <a:buNone/>
              <a:tabLst/>
              <a:defRPr sz="2400" kern="1200"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>
                <a:tab pos="355600" algn="l"/>
                <a:tab pos="812800" algn="l"/>
                <a:tab pos="1168400" algn="l"/>
                <a:tab pos="1524000" algn="l"/>
                <a:tab pos="1879600" algn="l"/>
                <a:tab pos="2247900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tabLst>
                <a:tab pos="623888" algn="l"/>
                <a:tab pos="901700" algn="l"/>
                <a:tab pos="1258888" algn="l"/>
                <a:tab pos="1616075" algn="l"/>
                <a:tab pos="1971675" algn="l"/>
                <a:tab pos="2328863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Gill Sans" charset="0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0B8F6-3BDB-7E4E-85A7-A7AFF8CD0B24}"/>
              </a:ext>
            </a:extLst>
          </p:cNvPr>
          <p:cNvSpPr txBox="1"/>
          <p:nvPr userDrawn="1"/>
        </p:nvSpPr>
        <p:spPr>
          <a:xfrm>
            <a:off x="914400" y="1782763"/>
            <a:ext cx="1818323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Student: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Supervisor: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Co-supervisors:</a:t>
            </a: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361D7-893B-504C-81E0-17DE4C097F16}"/>
              </a:ext>
            </a:extLst>
          </p:cNvPr>
          <p:cNvSpPr txBox="1"/>
          <p:nvPr userDrawn="1"/>
        </p:nvSpPr>
        <p:spPr>
          <a:xfrm>
            <a:off x="914400" y="2930907"/>
            <a:ext cx="1818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Summary: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7A166B-C75D-0C45-8EBC-1E7D1B0422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2723" y="2936875"/>
            <a:ext cx="8544877" cy="3148965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A74CC2-A676-5847-8817-24B9D8087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3320" y="1782763"/>
            <a:ext cx="8544280" cy="1027112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FE1A9-D3C2-8448-992B-9C8E56E148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2022-23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BD66-3131-AA42-B0C3-B08008E0B7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5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81075" indent="-188913">
              <a:buFont typeface="Arial"/>
              <a:buChar char="•"/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 b="1">
                <a:solidFill>
                  <a:srgbClr val="0000FF"/>
                </a:solidFill>
                <a:latin typeface="Monaco"/>
                <a:cs typeface="Monaco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05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0C9C0-4E53-0746-BDFE-B4C991EF30E2}"/>
              </a:ext>
            </a:extLst>
          </p:cNvPr>
          <p:cNvCxnSpPr/>
          <p:nvPr userDrawn="1"/>
        </p:nvCxnSpPr>
        <p:spPr>
          <a:xfrm flipV="1">
            <a:off x="609600" y="109728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92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0"/>
            <a:ext cx="10955868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54CCB69-97BF-5844-985F-B8001A0E28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</p:spTree>
    <p:extLst>
      <p:ext uri="{BB962C8B-B14F-4D97-AF65-F5344CB8AC3E}">
        <p14:creationId xmlns:p14="http://schemas.microsoft.com/office/powerpoint/2010/main" val="362519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220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6"/>
          <p:cNvSpPr>
            <a:spLocks noGrp="1"/>
          </p:cNvSpPr>
          <p:nvPr>
            <p:ph sz="half" idx="1"/>
          </p:nvPr>
        </p:nvSpPr>
        <p:spPr>
          <a:xfrm>
            <a:off x="609600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7"/>
          <p:cNvSpPr>
            <a:spLocks noGrp="1"/>
          </p:cNvSpPr>
          <p:nvPr>
            <p:ph sz="half" idx="2"/>
          </p:nvPr>
        </p:nvSpPr>
        <p:spPr>
          <a:xfrm>
            <a:off x="6220121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57C4B439-99BB-8D47-B6EC-CE237D1726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BC331-6258-3E4B-913F-143421016333}"/>
              </a:ext>
            </a:extLst>
          </p:cNvPr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63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55867" cy="11255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196975"/>
            <a:ext cx="10972800" cy="49291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4552" y="6367464"/>
            <a:ext cx="5778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4457701" y="6367464"/>
            <a:ext cx="6413500" cy="365125"/>
          </a:xfrm>
          <a:prstGeom prst="rect">
            <a:avLst/>
          </a:prstGeom>
        </p:spPr>
        <p:txBody>
          <a:bodyPr vert="horz" lIns="72000" tIns="45720" rIns="72000" bIns="45720" rtlCol="0" anchor="ctr"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941051" y="6411913"/>
            <a:ext cx="0" cy="2857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"/>
          <p:cNvPicPr>
            <a:picLocks noChangeAspect="1"/>
          </p:cNvPicPr>
          <p:nvPr userDrawn="1"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6411913"/>
            <a:ext cx="85344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9" r:id="rId3"/>
    <p:sldLayoutId id="2147483710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accent2">
              <a:lumMod val="50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65125" indent="-334963" algn="l" rtl="0" fontAlgn="base">
        <a:spcBef>
          <a:spcPct val="20000"/>
        </a:spcBef>
        <a:spcAft>
          <a:spcPct val="0"/>
        </a:spcAft>
        <a:buClr>
          <a:srgbClr val="339933"/>
        </a:buClr>
        <a:buSzPct val="100000"/>
        <a:buFont typeface="Wingdings" pitchFamily="2" charset="2"/>
        <a:buChar char="v"/>
        <a:tabLst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17600" indent="-2540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>
          <a:tab pos="355600" algn="l"/>
          <a:tab pos="812800" algn="l"/>
          <a:tab pos="1168400" algn="l"/>
          <a:tab pos="1524000" algn="l"/>
          <a:tab pos="1879600" algn="l"/>
          <a:tab pos="2247900" algn="l"/>
        </a:tabLst>
        <a:defRPr sz="16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357188" algn="l" rtl="0" fontAlgn="base">
        <a:spcBef>
          <a:spcPct val="20000"/>
        </a:spcBef>
        <a:spcAft>
          <a:spcPct val="0"/>
        </a:spcAft>
        <a:buFont typeface="Arial" charset="0"/>
        <a:tabLst>
          <a:tab pos="623888" algn="l"/>
          <a:tab pos="901700" algn="l"/>
          <a:tab pos="1258888" algn="l"/>
          <a:tab pos="1616075" algn="l"/>
          <a:tab pos="1971675" algn="l"/>
          <a:tab pos="2328863" algn="l"/>
        </a:tabLst>
        <a:defRPr sz="1600" kern="1200">
          <a:solidFill>
            <a:srgbClr val="0000FF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rgbClr val="254061"/>
          </a:solidFill>
          <a:latin typeface="Arial" panose="020B0604020202020204" pitchFamily="34" charset="0"/>
          <a:ea typeface="Gill Sans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FDA9A6-F367-8446-B624-0C8304944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Phishing email detection through linguistic</a:t>
            </a:r>
            <a:br>
              <a:rPr lang="en-US" dirty="0"/>
            </a:br>
            <a:r>
              <a:rPr lang="en-US" b="0" dirty="0"/>
              <a:t>patterns and sentiment analysis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76A87C-54F5-1241-AF74-F188FB1470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the wide usage of e-mail as a communication tool, phishing attacks</a:t>
            </a:r>
            <a:br>
              <a:rPr lang="en-US" dirty="0"/>
            </a:br>
            <a:r>
              <a:rPr lang="en-US" dirty="0"/>
              <a:t>have become increasingly common and sophisticated. This dissertation aims to</a:t>
            </a:r>
            <a:br>
              <a:rPr lang="en-US" dirty="0"/>
            </a:br>
            <a:r>
              <a:rPr lang="en-US" dirty="0"/>
              <a:t>explore </a:t>
            </a:r>
            <a:r>
              <a:rPr lang="en-US" b="1" dirty="0"/>
              <a:t>the use of linguistic patterns</a:t>
            </a:r>
            <a:r>
              <a:rPr lang="en-US" dirty="0"/>
              <a:t> and </a:t>
            </a:r>
            <a:r>
              <a:rPr lang="en-US" b="1" dirty="0"/>
              <a:t>sentiment analysis to detect</a:t>
            </a:r>
            <a:br>
              <a:rPr lang="en-US" b="1" dirty="0"/>
            </a:br>
            <a:r>
              <a:rPr lang="en-US" b="1" dirty="0"/>
              <a:t>phishing emails</a:t>
            </a:r>
            <a:r>
              <a:rPr lang="en-US" dirty="0"/>
              <a:t>. By analyzing the emotional tone and language used in</a:t>
            </a:r>
            <a:br>
              <a:rPr lang="en-US" dirty="0"/>
            </a:br>
            <a:r>
              <a:rPr lang="en-US" dirty="0"/>
              <a:t>emails, we may be able to identify potential phishing attempts and improve email</a:t>
            </a:r>
            <a:br>
              <a:rPr lang="en-US" dirty="0"/>
            </a:br>
            <a:r>
              <a:rPr lang="en-US" dirty="0"/>
              <a:t>security. </a:t>
            </a:r>
            <a:br>
              <a:rPr lang="en-US" dirty="0"/>
            </a:b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DCE4F7-7142-6442-BB39-DEBC46D06D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Daniel Pedrinho Nº 107378</a:t>
            </a:r>
          </a:p>
          <a:p>
            <a:r>
              <a:rPr lang="pt-BR" dirty="0"/>
              <a:t>João Rafael Duarte de Almeida</a:t>
            </a:r>
          </a:p>
          <a:p>
            <a:r>
              <a:rPr lang="pt-BR" dirty="0"/>
              <a:t>Sérgio Guilherme Aleixo de Matos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F491AD-B338-D34D-AB01-5D4B8A3421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0252E4-9EF7-8749-9068-7AAE3899B8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31B2-85E8-4521-3ED8-B8D9C4D9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FC893-F23C-0735-6ABA-21ADBBA22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Preparation:</a:t>
            </a:r>
          </a:p>
          <a:p>
            <a:pPr lvl="1"/>
            <a:r>
              <a:rPr lang="en-US" dirty="0"/>
              <a:t>No ideal, fully-labeled dataset exists for both phishing and emotional classification tasks</a:t>
            </a:r>
          </a:p>
          <a:p>
            <a:pPr lvl="1"/>
            <a:r>
              <a:rPr lang="en-US" dirty="0"/>
              <a:t>Generate phishing and non-phishing email datasets using an LLM, using an existing dataset as example</a:t>
            </a:r>
          </a:p>
          <a:p>
            <a:pPr lvl="1"/>
            <a:r>
              <a:rPr lang="en-US" dirty="0"/>
              <a:t>Add emotion annotations to enrich label diversity and create a more representative dataset.</a:t>
            </a:r>
          </a:p>
          <a:p>
            <a:r>
              <a:rPr lang="en-US" dirty="0"/>
              <a:t>Initial Model Pipeline</a:t>
            </a:r>
          </a:p>
          <a:p>
            <a:pPr lvl="1"/>
            <a:r>
              <a:rPr lang="en-US" dirty="0"/>
              <a:t>Create combined dataset, load it and perform text normalization</a:t>
            </a:r>
          </a:p>
          <a:p>
            <a:pPr lvl="1"/>
            <a:r>
              <a:rPr lang="en-US" dirty="0"/>
              <a:t>Split 80/20 Train/Test sets and vectorize them with TF-IDF</a:t>
            </a:r>
          </a:p>
          <a:p>
            <a:pPr lvl="1"/>
            <a:r>
              <a:rPr lang="en-US" dirty="0"/>
              <a:t>Train unsupervised clustering models</a:t>
            </a:r>
          </a:p>
          <a:p>
            <a:pPr lvl="1"/>
            <a:r>
              <a:rPr lang="en-US" dirty="0"/>
              <a:t>Evaluate Results</a:t>
            </a:r>
          </a:p>
          <a:p>
            <a:pPr lvl="1"/>
            <a:r>
              <a:rPr lang="en-US" dirty="0"/>
              <a:t>Preliminary Results: </a:t>
            </a:r>
          </a:p>
          <a:p>
            <a:pPr lvl="2"/>
            <a:r>
              <a:rPr lang="en-US" dirty="0"/>
              <a:t>Phishing F1 Score: 0.4501</a:t>
            </a:r>
          </a:p>
          <a:p>
            <a:pPr lvl="2"/>
            <a:r>
              <a:rPr lang="en-US" dirty="0"/>
              <a:t>Emotion F1 Score: 0.0532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703F3-7B59-93A2-BDC4-E202357C5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D7222-7F3D-5B52-C15F-70D65C28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</p:spTree>
    <p:extLst>
      <p:ext uri="{BB962C8B-B14F-4D97-AF65-F5344CB8AC3E}">
        <p14:creationId xmlns:p14="http://schemas.microsoft.com/office/powerpoint/2010/main" val="230281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Objectives / Work done /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074-DEEA-FE40-9330-58CFAD9D0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Objectives:</a:t>
            </a:r>
          </a:p>
          <a:p>
            <a:pPr lvl="1"/>
            <a:r>
              <a:rPr lang="en-GB" dirty="0"/>
              <a:t>Develop the initial model pipeline and refine it overtime</a:t>
            </a:r>
          </a:p>
          <a:p>
            <a:pPr lvl="1"/>
            <a:r>
              <a:rPr lang="en-GB" dirty="0"/>
              <a:t>Monitor the annotation progress</a:t>
            </a:r>
          </a:p>
          <a:p>
            <a:pPr lvl="1"/>
            <a:r>
              <a:rPr lang="en-GB" dirty="0"/>
              <a:t>Continuous development of document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Results:</a:t>
            </a:r>
          </a:p>
          <a:p>
            <a:pPr lvl="1"/>
            <a:r>
              <a:rPr lang="en-GB" dirty="0"/>
              <a:t>Ready-To-Run pipeline prepared</a:t>
            </a:r>
          </a:p>
          <a:p>
            <a:pPr lvl="1"/>
            <a:r>
              <a:rPr lang="en-GB" dirty="0"/>
              <a:t>Dataset processing and normalization developed</a:t>
            </a:r>
          </a:p>
          <a:p>
            <a:pPr lvl="1"/>
            <a:r>
              <a:rPr lang="en-GB" dirty="0"/>
              <a:t>Preliminary results </a:t>
            </a:r>
          </a:p>
          <a:p>
            <a:pPr marL="457200" lvl="1" indent="0">
              <a:buNone/>
            </a:pPr>
            <a:endParaRPr lang="en-GB" dirty="0"/>
          </a:p>
          <a:p>
            <a:pPr lvl="1">
              <a:buFont typeface="Wingdings" panose="05000000000000000000" pitchFamily="2" charset="2"/>
              <a:buChar char="v"/>
            </a:pPr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6B7-5AE3-8B4A-901A-53BD09B6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1089-536D-1A4F-AA9C-A32481626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9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13C89783-AB36-FA19-98AE-7448BBC7E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912702" y="2035241"/>
            <a:ext cx="4279298" cy="4332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Next Steps / Challenges / Bottlenecks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074-DEEA-FE40-9330-58CFAD9D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127"/>
            <a:ext cx="10972800" cy="4929188"/>
          </a:xfrm>
        </p:spPr>
        <p:txBody>
          <a:bodyPr/>
          <a:lstStyle/>
          <a:p>
            <a:r>
              <a:rPr lang="en-GB" dirty="0"/>
              <a:t>Next Steps:</a:t>
            </a:r>
          </a:p>
          <a:p>
            <a:pPr lvl="1"/>
            <a:r>
              <a:rPr lang="en-GB" dirty="0"/>
              <a:t>Keep annotating the dataset</a:t>
            </a:r>
          </a:p>
          <a:p>
            <a:pPr lvl="1"/>
            <a:r>
              <a:rPr lang="en-GB" dirty="0"/>
              <a:t>Run initial pipeline with the “full” dataset</a:t>
            </a:r>
          </a:p>
          <a:p>
            <a:pPr lvl="1"/>
            <a:r>
              <a:rPr lang="en-GB" dirty="0"/>
              <a:t>Expand pipeline with Transformers models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Challenges:</a:t>
            </a:r>
          </a:p>
          <a:p>
            <a:pPr lvl="1"/>
            <a:r>
              <a:rPr lang="en-GB" dirty="0"/>
              <a:t>Annotation process is lengthy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98D5C-9ECC-C346-AEB0-258E7C97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80DF4-B4D0-6548-974A-9C71BB2E2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09942"/>
      </p:ext>
    </p:extLst>
  </p:cSld>
  <p:clrMapOvr>
    <a:masterClrMapping/>
  </p:clrMapOvr>
</p:sld>
</file>

<file path=ppt/theme/theme1.xml><?xml version="1.0" encoding="utf-8"?>
<a:theme xmlns:a="http://schemas.openxmlformats.org/drawingml/2006/main" name="EMIF template">
  <a:themeElements>
    <a:clrScheme name="EMIF colours">
      <a:dk1>
        <a:srgbClr val="000000"/>
      </a:dk1>
      <a:lt1>
        <a:sysClr val="window" lastClr="FFFFFF"/>
      </a:lt1>
      <a:dk2>
        <a:srgbClr val="254CA0"/>
      </a:dk2>
      <a:lt2>
        <a:srgbClr val="FFFFFF"/>
      </a:lt2>
      <a:accent1>
        <a:srgbClr val="254CA0"/>
      </a:accent1>
      <a:accent2>
        <a:srgbClr val="4EAE4E"/>
      </a:accent2>
      <a:accent3>
        <a:srgbClr val="7187C1"/>
      </a:accent3>
      <a:accent4>
        <a:srgbClr val="8064A2"/>
      </a:accent4>
      <a:accent5>
        <a:srgbClr val="A4C98E"/>
      </a:accent5>
      <a:accent6>
        <a:srgbClr val="F79646"/>
      </a:accent6>
      <a:hlink>
        <a:srgbClr val="00B0F0"/>
      </a:hlink>
      <a:folHlink>
        <a:srgbClr val="800080"/>
      </a:folHlink>
    </a:clrScheme>
    <a:fontScheme name="EMIF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33039</TotalTime>
  <Words>287</Words>
  <Application>Microsoft Office PowerPoint</Application>
  <PresentationFormat>Widescreen</PresentationFormat>
  <Paragraphs>49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Century Gothic</vt:lpstr>
      <vt:lpstr>Helvetica Neue</vt:lpstr>
      <vt:lpstr>Monaco</vt:lpstr>
      <vt:lpstr>Wingdings</vt:lpstr>
      <vt:lpstr>EMIF template</vt:lpstr>
      <vt:lpstr>Phishing email detection through linguistic patterns and sentiment analysis</vt:lpstr>
      <vt:lpstr>Methodology Overview</vt:lpstr>
      <vt:lpstr>Objectives / Work done / Results</vt:lpstr>
      <vt:lpstr>Next Steps / Challenges / Bottlenecks</vt:lpstr>
    </vt:vector>
  </TitlesOfParts>
  <Manager/>
  <Company>UA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PDE</dc:title>
  <dc:subject/>
  <dc:creator>José Luis Oliveira</dc:creator>
  <cp:keywords/>
  <dc:description/>
  <cp:lastModifiedBy>Daniel Pedrinho</cp:lastModifiedBy>
  <cp:revision>344</cp:revision>
  <cp:lastPrinted>2019-09-13T14:12:05Z</cp:lastPrinted>
  <dcterms:created xsi:type="dcterms:W3CDTF">2013-09-12T12:41:43Z</dcterms:created>
  <dcterms:modified xsi:type="dcterms:W3CDTF">2025-11-24T10:33:13Z</dcterms:modified>
  <cp:category/>
</cp:coreProperties>
</file>