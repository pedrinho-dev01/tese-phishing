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3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ídio Oliveira" initials="IO" lastIdx="2" clrIdx="0">
    <p:extLst>
      <p:ext uri="{19B8F6BF-5375-455C-9EA6-DF929625EA0E}">
        <p15:presenceInfo xmlns:p15="http://schemas.microsoft.com/office/powerpoint/2012/main" userId="S::ico@ua.pt::2e6e6f6d-fff9-46ef-9091-884c6980c7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78301" autoAdjust="0"/>
  </p:normalViewPr>
  <p:slideViewPr>
    <p:cSldViewPr snapToGrid="0">
      <p:cViewPr varScale="1">
        <p:scale>
          <a:sx n="64" d="100"/>
          <a:sy n="64" d="100"/>
        </p:scale>
        <p:origin x="1320" y="72"/>
      </p:cViewPr>
      <p:guideLst>
        <p:guide orient="horz" pos="2160"/>
        <p:guide pos="3840"/>
        <p:guide pos="393"/>
        <p:guide pos="7305"/>
      </p:guideLst>
    </p:cSldViewPr>
  </p:slideViewPr>
  <p:outlineViewPr>
    <p:cViewPr>
      <p:scale>
        <a:sx n="33" d="100"/>
        <a:sy n="33" d="100"/>
      </p:scale>
      <p:origin x="0" y="-66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5" d="100"/>
        <a:sy n="145" d="100"/>
      </p:scale>
      <p:origin x="0" y="167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8EFD9D37-A775-CE45-B921-68D592DCA8B7}" type="datetimeFigureOut">
              <a:rPr lang="en-US"/>
              <a:pPr>
                <a:defRPr/>
              </a:pPr>
              <a:t>16-Jan-26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3BEAF6FA-A1A8-B54C-B405-E45F373A6B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62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F9F373F6-AB6D-3948-B9A6-C223395DEAFB}" type="datetimeFigureOut">
              <a:rPr lang="en-US"/>
              <a:pPr>
                <a:defRPr/>
              </a:pPr>
              <a:t>16-Jan-26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43537" cy="4475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B973E424-A531-7149-99CE-1FD710C32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3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6125"/>
            <a:ext cx="66294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3E424-A531-7149-99CE-1FD710C32B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48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Attacks lead to data breaches and financial losses: According to the FBI IC3 Report over USD 70 Million in phishing related losses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3E424-A531-7149-99CE-1FD710C32BF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Rule-based and Blacklist Systems: System that relied on manually set rules and known malicious senders and </a:t>
            </a:r>
            <a:r>
              <a:rPr lang="en-US" dirty="0" err="1"/>
              <a:t>url</a:t>
            </a:r>
            <a:r>
              <a:rPr lang="en-US" dirty="0"/>
              <a:t> blacklists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Classical Machine Learning: Uses supervised machine learning models trained on manually engineered features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Deep Learning and Transformer Models: Automatically learn semantic representations from raw email content. These models achieve state-of-the-art accuracy and are especially effective at capturing contextual meaning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3E424-A531-7149-99CE-1FD710C32BF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79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650555"/>
            <a:ext cx="10363200" cy="1056325"/>
          </a:xfrm>
        </p:spPr>
        <p:txBody>
          <a:bodyPr anchor="t"/>
          <a:lstStyle>
            <a:lvl1pPr algn="l">
              <a:defRPr lang="en-US" sz="2800" b="1" kern="1200" dirty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pt-PT" dirty="0" err="1"/>
              <a:t>Title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CA189C-64E7-6E4C-9A26-9A8BDC2947B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04160" y="3058160"/>
            <a:ext cx="8473440" cy="302768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rgbClr val="339933"/>
              </a:buClr>
              <a:buSzPct val="100000"/>
              <a:buFont typeface="Wingdings" pitchFamily="2" charset="2"/>
              <a:buNone/>
              <a:tabLst/>
              <a:defRPr sz="2400" kern="1200"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>
                <a:tab pos="355600" algn="l"/>
                <a:tab pos="812800" algn="l"/>
                <a:tab pos="1168400" algn="l"/>
                <a:tab pos="1524000" algn="l"/>
                <a:tab pos="1879600" algn="l"/>
                <a:tab pos="2247900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tabLst>
                <a:tab pos="623888" algn="l"/>
                <a:tab pos="901700" algn="l"/>
                <a:tab pos="1258888" algn="l"/>
                <a:tab pos="1616075" algn="l"/>
                <a:tab pos="1971675" algn="l"/>
                <a:tab pos="2328863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Gill Sans" charset="0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0B8F6-3BDB-7E4E-85A7-A7AFF8CD0B24}"/>
              </a:ext>
            </a:extLst>
          </p:cNvPr>
          <p:cNvSpPr txBox="1"/>
          <p:nvPr userDrawn="1"/>
        </p:nvSpPr>
        <p:spPr>
          <a:xfrm>
            <a:off x="914400" y="1782763"/>
            <a:ext cx="1818323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Student: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Supervisor: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Co-supervisors:</a:t>
            </a: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361D7-893B-504C-81E0-17DE4C097F16}"/>
              </a:ext>
            </a:extLst>
          </p:cNvPr>
          <p:cNvSpPr txBox="1"/>
          <p:nvPr userDrawn="1"/>
        </p:nvSpPr>
        <p:spPr>
          <a:xfrm>
            <a:off x="914400" y="2930907"/>
            <a:ext cx="1818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Summary: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7A166B-C75D-0C45-8EBC-1E7D1B0422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2723" y="2936875"/>
            <a:ext cx="8544877" cy="3148965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A74CC2-A676-5847-8817-24B9D8087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3320" y="1782763"/>
            <a:ext cx="8544280" cy="1027112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FE1A9-D3C2-8448-992B-9C8E56E148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2025-26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BD66-3131-AA42-B0C3-B08008E0B7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5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81075" indent="-188913">
              <a:buFont typeface="Arial"/>
              <a:buChar char="•"/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 b="1">
                <a:solidFill>
                  <a:srgbClr val="0000FF"/>
                </a:solidFill>
                <a:latin typeface="Monaco"/>
                <a:cs typeface="Monaco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05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2025-26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0C9C0-4E53-0746-BDFE-B4C991EF30E2}"/>
              </a:ext>
            </a:extLst>
          </p:cNvPr>
          <p:cNvCxnSpPr/>
          <p:nvPr userDrawn="1"/>
        </p:nvCxnSpPr>
        <p:spPr>
          <a:xfrm flipV="1">
            <a:off x="609600" y="109728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92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0"/>
            <a:ext cx="10955868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54CCB69-97BF-5844-985F-B8001A0E28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2025-26</a:t>
            </a:r>
          </a:p>
        </p:txBody>
      </p:sp>
    </p:spTree>
    <p:extLst>
      <p:ext uri="{BB962C8B-B14F-4D97-AF65-F5344CB8AC3E}">
        <p14:creationId xmlns:p14="http://schemas.microsoft.com/office/powerpoint/2010/main" val="362519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220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6"/>
          <p:cNvSpPr>
            <a:spLocks noGrp="1"/>
          </p:cNvSpPr>
          <p:nvPr>
            <p:ph sz="half" idx="1"/>
          </p:nvPr>
        </p:nvSpPr>
        <p:spPr>
          <a:xfrm>
            <a:off x="609600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7"/>
          <p:cNvSpPr>
            <a:spLocks noGrp="1"/>
          </p:cNvSpPr>
          <p:nvPr>
            <p:ph sz="half" idx="2"/>
          </p:nvPr>
        </p:nvSpPr>
        <p:spPr>
          <a:xfrm>
            <a:off x="6220121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57C4B439-99BB-8D47-B6EC-CE237D1726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2025-26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BC331-6258-3E4B-913F-143421016333}"/>
              </a:ext>
            </a:extLst>
          </p:cNvPr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63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55867" cy="11255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196975"/>
            <a:ext cx="10972800" cy="49291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4552" y="6367464"/>
            <a:ext cx="5778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4457701" y="6367464"/>
            <a:ext cx="6413500" cy="365125"/>
          </a:xfrm>
          <a:prstGeom prst="rect">
            <a:avLst/>
          </a:prstGeom>
        </p:spPr>
        <p:txBody>
          <a:bodyPr vert="horz" lIns="72000" tIns="45720" rIns="72000" bIns="45720" rtlCol="0" anchor="ctr"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2025-26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941051" y="6411913"/>
            <a:ext cx="0" cy="2857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"/>
          <p:cNvPicPr>
            <a:picLocks noChangeAspect="1"/>
          </p:cNvPicPr>
          <p:nvPr userDrawn="1"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6411913"/>
            <a:ext cx="85344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9" r:id="rId3"/>
    <p:sldLayoutId id="2147483710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accent2">
              <a:lumMod val="50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65125" indent="-334963" algn="l" rtl="0" fontAlgn="base">
        <a:spcBef>
          <a:spcPct val="20000"/>
        </a:spcBef>
        <a:spcAft>
          <a:spcPct val="0"/>
        </a:spcAft>
        <a:buClr>
          <a:srgbClr val="339933"/>
        </a:buClr>
        <a:buSzPct val="100000"/>
        <a:buFont typeface="Wingdings" pitchFamily="2" charset="2"/>
        <a:buChar char="v"/>
        <a:tabLst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17600" indent="-2540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>
          <a:tab pos="355600" algn="l"/>
          <a:tab pos="812800" algn="l"/>
          <a:tab pos="1168400" algn="l"/>
          <a:tab pos="1524000" algn="l"/>
          <a:tab pos="1879600" algn="l"/>
          <a:tab pos="2247900" algn="l"/>
        </a:tabLst>
        <a:defRPr sz="16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357188" algn="l" rtl="0" fontAlgn="base">
        <a:spcBef>
          <a:spcPct val="20000"/>
        </a:spcBef>
        <a:spcAft>
          <a:spcPct val="0"/>
        </a:spcAft>
        <a:buFont typeface="Arial" charset="0"/>
        <a:tabLst>
          <a:tab pos="623888" algn="l"/>
          <a:tab pos="901700" algn="l"/>
          <a:tab pos="1258888" algn="l"/>
          <a:tab pos="1616075" algn="l"/>
          <a:tab pos="1971675" algn="l"/>
          <a:tab pos="2328863" algn="l"/>
        </a:tabLst>
        <a:defRPr sz="1600" kern="1200">
          <a:solidFill>
            <a:srgbClr val="0000FF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rgbClr val="254061"/>
          </a:solidFill>
          <a:latin typeface="Arial" panose="020B0604020202020204" pitchFamily="34" charset="0"/>
          <a:ea typeface="Gill Sans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FDA9A6-F367-8446-B624-0C8304944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Phishing email detection through linguistic</a:t>
            </a:r>
            <a:br>
              <a:rPr lang="en-US" dirty="0"/>
            </a:br>
            <a:r>
              <a:rPr lang="en-US" b="0" dirty="0"/>
              <a:t>patterns and sentiment analysis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76A87C-54F5-1241-AF74-F188FB1470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the wide usage of e-mail as a communication tool, phishing attacks</a:t>
            </a:r>
            <a:br>
              <a:rPr lang="en-US" dirty="0"/>
            </a:br>
            <a:r>
              <a:rPr lang="en-US" dirty="0"/>
              <a:t>have become increasingly common and sophisticated. This dissertation aims to</a:t>
            </a:r>
            <a:br>
              <a:rPr lang="en-US" dirty="0"/>
            </a:br>
            <a:r>
              <a:rPr lang="en-US" dirty="0"/>
              <a:t>explore </a:t>
            </a:r>
            <a:r>
              <a:rPr lang="en-US" b="1" dirty="0"/>
              <a:t>the use of linguistic patterns</a:t>
            </a:r>
            <a:r>
              <a:rPr lang="en-US" dirty="0"/>
              <a:t> and </a:t>
            </a:r>
            <a:r>
              <a:rPr lang="en-US" b="1" dirty="0"/>
              <a:t>sentiment analysis to detect</a:t>
            </a:r>
            <a:br>
              <a:rPr lang="en-US" b="1" dirty="0"/>
            </a:br>
            <a:r>
              <a:rPr lang="en-US" b="1" dirty="0"/>
              <a:t>phishing emails</a:t>
            </a:r>
            <a:r>
              <a:rPr lang="en-US" dirty="0"/>
              <a:t>. By analyzing the emotional tone and language used in</a:t>
            </a:r>
            <a:br>
              <a:rPr lang="en-US" dirty="0"/>
            </a:br>
            <a:r>
              <a:rPr lang="en-US" dirty="0"/>
              <a:t>emails, we may be able to identify potential phishing attempts and improve email</a:t>
            </a:r>
            <a:br>
              <a:rPr lang="en-US" dirty="0"/>
            </a:br>
            <a:r>
              <a:rPr lang="en-US" dirty="0"/>
              <a:t>security. </a:t>
            </a:r>
            <a:br>
              <a:rPr lang="en-US" dirty="0"/>
            </a:b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DCE4F7-7142-6442-BB39-DEBC46D06D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Daniel Nascimento Pedrinho</a:t>
            </a:r>
          </a:p>
          <a:p>
            <a:r>
              <a:rPr lang="pt-BR" dirty="0"/>
              <a:t>João Rafael Duarte de Almeida</a:t>
            </a:r>
          </a:p>
          <a:p>
            <a:r>
              <a:rPr lang="pt-BR" dirty="0"/>
              <a:t>Sérgio Guilherme Aleixo de Matos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F491AD-B338-D34D-AB01-5D4B8A3421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0252E4-9EF7-8749-9068-7AAE3899B8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074-DEEA-FE40-9330-58CFAD9D0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Email as Critical Infrastructure:</a:t>
            </a:r>
          </a:p>
          <a:p>
            <a:pPr lvl="1"/>
            <a:r>
              <a:rPr lang="en-GB" dirty="0"/>
              <a:t>Over 4 billion users and 347 billion emails exchanged daily</a:t>
            </a:r>
          </a:p>
          <a:p>
            <a:pPr lvl="1"/>
            <a:r>
              <a:rPr lang="en-GB" dirty="0"/>
              <a:t>Central to </a:t>
            </a:r>
            <a:r>
              <a:rPr lang="en-US" dirty="0"/>
              <a:t>business operations, and online authentication</a:t>
            </a:r>
            <a:endParaRPr lang="en-GB" dirty="0"/>
          </a:p>
          <a:p>
            <a:r>
              <a:rPr lang="en-US" dirty="0"/>
              <a:t>Escalating Email Security Threats:</a:t>
            </a:r>
          </a:p>
          <a:p>
            <a:pPr lvl="1"/>
            <a:r>
              <a:rPr lang="en-US" dirty="0"/>
              <a:t>Phishing remains a prevalent attack vector</a:t>
            </a:r>
          </a:p>
          <a:p>
            <a:pPr lvl="1"/>
            <a:r>
              <a:rPr lang="en-US" dirty="0"/>
              <a:t>Attacks lead to data breaches and financial losses</a:t>
            </a:r>
          </a:p>
          <a:p>
            <a:r>
              <a:rPr lang="en-US" dirty="0"/>
              <a:t>Increased Sophistication of Attacks:</a:t>
            </a:r>
          </a:p>
          <a:p>
            <a:pPr lvl="1"/>
            <a:r>
              <a:rPr lang="en-US" dirty="0"/>
              <a:t>Employs usage of social engineering, paired with AI generation</a:t>
            </a:r>
          </a:p>
          <a:p>
            <a:pPr lvl="1"/>
            <a:r>
              <a:rPr lang="en-US" dirty="0"/>
              <a:t>Emotional manipulation disregards technical prowess</a:t>
            </a:r>
          </a:p>
          <a:p>
            <a:r>
              <a:rPr lang="en-US" dirty="0"/>
              <a:t>Novel Defense Approach:</a:t>
            </a:r>
          </a:p>
          <a:p>
            <a:pPr lvl="1"/>
            <a:r>
              <a:rPr lang="en-US" dirty="0"/>
              <a:t>Leverage emotion detection as a defense mechanism</a:t>
            </a:r>
          </a:p>
          <a:p>
            <a:pPr lvl="1"/>
            <a:r>
              <a:rPr lang="en-US" dirty="0"/>
              <a:t>Apply NLP and Machine Learning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6B7-5AE3-8B4A-901A-53BD09B6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1089-536D-1A4F-AA9C-A32481626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9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CB8F-4165-C1F0-D52A-D84DC1F4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B953B-C38A-20F6-8E02-D400B92F8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Evolution of Detection Systems:</a:t>
            </a:r>
          </a:p>
          <a:p>
            <a:pPr lvl="1"/>
            <a:r>
              <a:rPr lang="en-US" dirty="0"/>
              <a:t>Rule-based and Blacklist Systems</a:t>
            </a:r>
          </a:p>
          <a:p>
            <a:pPr lvl="1"/>
            <a:r>
              <a:rPr lang="en-US" dirty="0"/>
              <a:t>Classical Machine Learning</a:t>
            </a:r>
          </a:p>
          <a:p>
            <a:pPr lvl="1"/>
            <a:r>
              <a:rPr lang="en-US" dirty="0"/>
              <a:t>Deep Learning and Transformer Models</a:t>
            </a:r>
          </a:p>
          <a:p>
            <a:r>
              <a:rPr lang="en-US" dirty="0"/>
              <a:t>Trend Towards Multi-Modal Detection:</a:t>
            </a:r>
          </a:p>
          <a:p>
            <a:pPr lvl="1"/>
            <a:r>
              <a:rPr lang="en-US" dirty="0"/>
              <a:t>Integration of multiple email features, such as headers, in the detection</a:t>
            </a:r>
          </a:p>
          <a:p>
            <a:r>
              <a:rPr lang="en-US" dirty="0"/>
              <a:t>Emerging Role of Sentiment Analysis:</a:t>
            </a:r>
          </a:p>
          <a:p>
            <a:pPr lvl="1"/>
            <a:r>
              <a:rPr lang="en-US" dirty="0"/>
              <a:t>Studies show sentiment-aware features can improve detection</a:t>
            </a:r>
          </a:p>
          <a:p>
            <a:r>
              <a:rPr lang="en-US" dirty="0"/>
              <a:t>Dataset Landscape:</a:t>
            </a:r>
          </a:p>
          <a:p>
            <a:pPr lvl="1"/>
            <a:r>
              <a:rPr lang="en-US" dirty="0"/>
              <a:t>Large-scale datasets exist, providing binary labels</a:t>
            </a:r>
          </a:p>
          <a:p>
            <a:pPr lvl="1"/>
            <a:r>
              <a:rPr lang="en-US" dirty="0"/>
              <a:t>Fine-grained emotional datasets are mostly absent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47B65-3D1E-6A11-ECF9-14ED7C2C9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7C90C-FDB5-C2F1-30B2-80B24FF3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</p:spTree>
    <p:extLst>
      <p:ext uri="{BB962C8B-B14F-4D97-AF65-F5344CB8AC3E}">
        <p14:creationId xmlns:p14="http://schemas.microsoft.com/office/powerpoint/2010/main" val="3812874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B80B-D83E-5C90-34C7-DE9A9F7D0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F797-3D29-9165-D521-910A1BC0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0951E-41E1-D922-83D5-E0C9B7614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Phishing Remains Fundamentally Psychological:</a:t>
            </a:r>
          </a:p>
          <a:p>
            <a:pPr lvl="1"/>
            <a:r>
              <a:rPr lang="en-US" dirty="0"/>
              <a:t>Emotional manipulation is a primary success factor</a:t>
            </a:r>
          </a:p>
          <a:p>
            <a:r>
              <a:rPr lang="en-US" dirty="0"/>
              <a:t>Lack of Fine-Grained Emotional Annotations:</a:t>
            </a:r>
          </a:p>
          <a:p>
            <a:pPr lvl="1"/>
            <a:r>
              <a:rPr lang="en-US" dirty="0"/>
              <a:t>No publicly available large-scale datasets with emotional labels</a:t>
            </a:r>
          </a:p>
          <a:p>
            <a:pPr lvl="1"/>
            <a:r>
              <a:rPr lang="en-US" dirty="0"/>
              <a:t>Imposes limit on supervised learning for emotional patterns</a:t>
            </a:r>
          </a:p>
          <a:p>
            <a:r>
              <a:rPr lang="en-US" dirty="0"/>
              <a:t>Underexplored Role of Emotion Detection:</a:t>
            </a:r>
          </a:p>
          <a:p>
            <a:pPr lvl="1"/>
            <a:r>
              <a:rPr lang="en-US" dirty="0"/>
              <a:t>Often treated as a secondary feature </a:t>
            </a:r>
          </a:p>
          <a:p>
            <a:pPr lvl="1"/>
            <a:r>
              <a:rPr lang="en-US" dirty="0"/>
              <a:t>Remains peripheral in state-of-the-art systems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BD22C-FBD4-3289-050E-79230783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4092E-D427-3040-78F5-A1F2A1175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84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Dataset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074-DEEA-FE40-9330-58CFAD9D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127"/>
            <a:ext cx="10972800" cy="4929188"/>
          </a:xfrm>
        </p:spPr>
        <p:txBody>
          <a:bodyPr/>
          <a:lstStyle/>
          <a:p>
            <a:r>
              <a:rPr lang="en-GB" dirty="0"/>
              <a:t>No existing datasets fit our research requirements</a:t>
            </a:r>
          </a:p>
          <a:p>
            <a:r>
              <a:rPr lang="en-GB" b="1" dirty="0"/>
              <a:t>Objective</a:t>
            </a:r>
            <a:r>
              <a:rPr lang="en-GB" dirty="0"/>
              <a:t>: Create sizeable, emotion-annotated phishing email dataset</a:t>
            </a:r>
          </a:p>
          <a:p>
            <a:r>
              <a:rPr lang="en-GB" dirty="0"/>
              <a:t>Dataset Characteristics:</a:t>
            </a:r>
          </a:p>
          <a:p>
            <a:pPr lvl="1"/>
            <a:r>
              <a:rPr lang="en-US" dirty="0"/>
              <a:t>Fine-grained emotional annotations</a:t>
            </a:r>
          </a:p>
          <a:p>
            <a:pPr lvl="1"/>
            <a:r>
              <a:rPr lang="en-US" dirty="0"/>
              <a:t>Realistic phishing language and structure</a:t>
            </a:r>
          </a:p>
          <a:p>
            <a:pPr lvl="1"/>
            <a:r>
              <a:rPr lang="en-US" dirty="0"/>
              <a:t>Balanced emotional category distribution</a:t>
            </a:r>
            <a:endParaRPr lang="en-GB" dirty="0"/>
          </a:p>
          <a:p>
            <a:r>
              <a:rPr lang="en-GB" dirty="0"/>
              <a:t>Dataset should support:</a:t>
            </a:r>
          </a:p>
          <a:p>
            <a:pPr lvl="1"/>
            <a:r>
              <a:rPr lang="en-GB" dirty="0"/>
              <a:t> Emotion-Aware Phishing Detection</a:t>
            </a:r>
          </a:p>
          <a:p>
            <a:pPr lvl="1"/>
            <a:r>
              <a:rPr lang="en-GB" dirty="0"/>
              <a:t>Supervised machine learning and evaluation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98D5C-9ECC-C346-AEB0-258E7C97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80DF4-B4D0-6548-974A-9C71BB2E2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0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6225-E9B7-556D-9C3F-BBFBE3EC7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87329-6F55-4E49-C1BD-ACB8A4136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Methodology:</a:t>
            </a:r>
          </a:p>
          <a:p>
            <a:pPr lvl="1"/>
            <a:r>
              <a:rPr lang="en-US" dirty="0"/>
              <a:t>Use pre-existing curated dataset with 480 </a:t>
            </a:r>
            <a:r>
              <a:rPr lang="en-US" dirty="0" err="1"/>
              <a:t>entires</a:t>
            </a:r>
            <a:r>
              <a:rPr lang="en-US" dirty="0"/>
              <a:t> as baseline</a:t>
            </a:r>
          </a:p>
          <a:p>
            <a:pPr lvl="1"/>
            <a:r>
              <a:rPr lang="en-US" dirty="0"/>
              <a:t>Generated large dataset with 10,000 entries using LLM</a:t>
            </a:r>
          </a:p>
          <a:p>
            <a:pPr lvl="1"/>
            <a:r>
              <a:rPr lang="en-US" dirty="0"/>
              <a:t>Annotate dataset manually with human annotations</a:t>
            </a:r>
          </a:p>
          <a:p>
            <a:pPr lvl="1"/>
            <a:endParaRPr lang="en-US" dirty="0"/>
          </a:p>
          <a:p>
            <a:r>
              <a:rPr lang="en-US" dirty="0"/>
              <a:t>Post-Processing:</a:t>
            </a:r>
          </a:p>
          <a:p>
            <a:pPr lvl="1"/>
            <a:r>
              <a:rPr lang="en-US" dirty="0"/>
              <a:t>Remove any generated text not part of the email</a:t>
            </a:r>
          </a:p>
          <a:p>
            <a:pPr lvl="1"/>
            <a:r>
              <a:rPr lang="en-US" dirty="0"/>
              <a:t>Replace placeholders with fake generic information</a:t>
            </a:r>
          </a:p>
          <a:p>
            <a:pPr lvl="1"/>
            <a:endParaRPr lang="en-US" dirty="0"/>
          </a:p>
          <a:p>
            <a:r>
              <a:rPr lang="en-US" dirty="0"/>
              <a:t>Validation:</a:t>
            </a:r>
          </a:p>
          <a:p>
            <a:pPr lvl="1"/>
            <a:r>
              <a:rPr lang="en-US" dirty="0"/>
              <a:t>Dataset is evenly distributed across 14 emotions</a:t>
            </a:r>
          </a:p>
          <a:p>
            <a:pPr lvl="1"/>
            <a:r>
              <a:rPr lang="en-US" dirty="0"/>
              <a:t>Linguistic coherence preserved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EA664-36D4-66DA-F5B1-635956D95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2FB65-56C3-071F-F00F-7B1ADE04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2025-26</a:t>
            </a:r>
          </a:p>
        </p:txBody>
      </p:sp>
    </p:spTree>
    <p:extLst>
      <p:ext uri="{BB962C8B-B14F-4D97-AF65-F5344CB8AC3E}">
        <p14:creationId xmlns:p14="http://schemas.microsoft.com/office/powerpoint/2010/main" val="3116249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5EB4-054C-51CE-8161-1AD06AD1B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DD433-00D8-5B0A-0495-C8FBDB940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: Create Fully Annotated Dataset</a:t>
            </a:r>
          </a:p>
          <a:p>
            <a:pPr lvl="1"/>
            <a:r>
              <a:rPr lang="en-US" dirty="0"/>
              <a:t>Each entry can have more than one </a:t>
            </a:r>
            <a:r>
              <a:rPr lang="en-US" dirty="0" err="1"/>
              <a:t>labe</a:t>
            </a:r>
            <a:endParaRPr lang="en-US" dirty="0"/>
          </a:p>
          <a:p>
            <a:pPr lvl="1"/>
            <a:r>
              <a:rPr lang="en-US" dirty="0"/>
              <a:t>Increases label diversity and training robustness</a:t>
            </a:r>
          </a:p>
          <a:p>
            <a:r>
              <a:rPr lang="en-US" dirty="0"/>
              <a:t>Emotion labels derived from existing literature</a:t>
            </a:r>
          </a:p>
          <a:p>
            <a:r>
              <a:rPr lang="en-US" dirty="0"/>
              <a:t>Annotation Procedure:</a:t>
            </a:r>
          </a:p>
          <a:p>
            <a:pPr lvl="1"/>
            <a:r>
              <a:rPr lang="en-US" dirty="0"/>
              <a:t>Emails are reviewed individually</a:t>
            </a:r>
          </a:p>
          <a:p>
            <a:pPr lvl="1"/>
            <a:r>
              <a:rPr lang="en-US" dirty="0"/>
              <a:t>Annotator chooses one or more emotions present in the email</a:t>
            </a:r>
          </a:p>
          <a:p>
            <a:r>
              <a:rPr lang="en-US" dirty="0"/>
              <a:t>Quality Assurance:</a:t>
            </a:r>
          </a:p>
          <a:p>
            <a:pPr lvl="1"/>
            <a:r>
              <a:rPr lang="en-US" dirty="0"/>
              <a:t>Guidelines created to ensure consistency between annotators</a:t>
            </a:r>
          </a:p>
          <a:p>
            <a:pPr lvl="1"/>
            <a:r>
              <a:rPr lang="en-US" dirty="0"/>
              <a:t>“UNSURE” label prevents ambiguous labeling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8070B-06A3-10BF-C4A7-582919C43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DE33-A99F-247C-DE3F-DFB0D378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2025-26</a:t>
            </a:r>
          </a:p>
        </p:txBody>
      </p:sp>
    </p:spTree>
    <p:extLst>
      <p:ext uri="{BB962C8B-B14F-4D97-AF65-F5344CB8AC3E}">
        <p14:creationId xmlns:p14="http://schemas.microsoft.com/office/powerpoint/2010/main" val="66592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A2E01-B1FB-8462-CB42-56830D2C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958A1-392F-1138-545B-FC110CE7B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Creation Process Completed</a:t>
            </a:r>
          </a:p>
          <a:p>
            <a:r>
              <a:rPr lang="en-US" dirty="0"/>
              <a:t>Annotation Process Underway:</a:t>
            </a:r>
          </a:p>
          <a:p>
            <a:pPr lvl="1"/>
            <a:r>
              <a:rPr lang="en-US" dirty="0"/>
              <a:t>1843 entries annotated so far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026F1-FFA9-8F29-4684-D87B6403D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D0E32-716D-0D00-A5A9-74BF5A75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2025-26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A51017-D7F0-AB06-3224-27ECB4DDB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92" y="2675446"/>
            <a:ext cx="10395284" cy="345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0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0C9C-B003-8605-D1DA-144CF04F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Plan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EA03-1027-E2B7-1E16-F6790E336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1: Phishing Detection Model Development</a:t>
            </a:r>
          </a:p>
          <a:p>
            <a:pPr lvl="1"/>
            <a:r>
              <a:rPr lang="en-US" dirty="0"/>
              <a:t>Model selection, training and evaluation</a:t>
            </a:r>
          </a:p>
          <a:p>
            <a:pPr lvl="1"/>
            <a:r>
              <a:rPr lang="en-US" dirty="0"/>
              <a:t>Parameter optimization</a:t>
            </a:r>
          </a:p>
          <a:p>
            <a:r>
              <a:rPr lang="en-US" dirty="0"/>
              <a:t>Phase 2: Sentiment Analysis Model Development</a:t>
            </a:r>
          </a:p>
          <a:p>
            <a:pPr lvl="1"/>
            <a:r>
              <a:rPr lang="en-US" dirty="0"/>
              <a:t>Capable of identifying emotions with high scoring metrics</a:t>
            </a:r>
          </a:p>
          <a:p>
            <a:pPr lvl="1"/>
            <a:r>
              <a:rPr lang="en-US" dirty="0"/>
              <a:t>Integration with phishing model</a:t>
            </a:r>
          </a:p>
          <a:p>
            <a:r>
              <a:rPr lang="en-US" dirty="0"/>
              <a:t>Phase 3: Web Application Development</a:t>
            </a:r>
          </a:p>
          <a:p>
            <a:pPr lvl="1"/>
            <a:r>
              <a:rPr lang="en-US" dirty="0"/>
              <a:t>Develop RESTful API that integrates models</a:t>
            </a:r>
          </a:p>
          <a:p>
            <a:pPr lvl="1"/>
            <a:r>
              <a:rPr lang="en-US" dirty="0"/>
              <a:t>Design frontend for user ease-of-use</a:t>
            </a:r>
          </a:p>
          <a:p>
            <a:r>
              <a:rPr lang="en-US" dirty="0"/>
              <a:t>Phase 4: Review and Quality Assurance</a:t>
            </a:r>
          </a:p>
          <a:p>
            <a:pPr lvl="1"/>
            <a:r>
              <a:rPr lang="en-US" dirty="0"/>
              <a:t>Assure system is tested end-to-end</a:t>
            </a:r>
          </a:p>
          <a:p>
            <a:pPr lvl="1"/>
            <a:r>
              <a:rPr lang="en-US" dirty="0"/>
              <a:t>Review documentation and code aiming for high quality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BE715-020A-5BD5-829A-B37976303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3EBC8-055F-F140-5189-7457E62B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2025-26</a:t>
            </a:r>
          </a:p>
        </p:txBody>
      </p:sp>
    </p:spTree>
    <p:extLst>
      <p:ext uri="{BB962C8B-B14F-4D97-AF65-F5344CB8AC3E}">
        <p14:creationId xmlns:p14="http://schemas.microsoft.com/office/powerpoint/2010/main" val="3326178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FC03-C9AE-F732-1D16-CABCA050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802" y="2866628"/>
            <a:ext cx="10972800" cy="1124744"/>
          </a:xfrm>
        </p:spPr>
        <p:txBody>
          <a:bodyPr/>
          <a:lstStyle/>
          <a:p>
            <a:pPr algn="ctr"/>
            <a:r>
              <a:rPr lang="en-US" sz="4400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D465A-DF38-2EA7-AF7C-CCEBC7A6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1F43E-3AA6-FA67-A172-082472A7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2025-26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72D683-C243-4C7C-E1E9-FD596816D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48" y="606551"/>
            <a:ext cx="11595926" cy="952583"/>
          </a:xfrm>
          <a:prstGeom prst="rect">
            <a:avLst/>
          </a:prstGeom>
        </p:spPr>
      </p:pic>
      <p:pic>
        <p:nvPicPr>
          <p:cNvPr id="11" name="Gráfico 6">
            <a:extLst>
              <a:ext uri="{FF2B5EF4-FFF2-40B4-BE49-F238E27FC236}">
                <a16:creationId xmlns:a16="http://schemas.microsoft.com/office/drawing/2014/main" id="{E6BCD91E-6C98-6718-3F40-F4B8680B5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912702" y="2035241"/>
            <a:ext cx="4279298" cy="433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80608"/>
      </p:ext>
    </p:extLst>
  </p:cSld>
  <p:clrMapOvr>
    <a:masterClrMapping/>
  </p:clrMapOvr>
</p:sld>
</file>

<file path=ppt/theme/theme1.xml><?xml version="1.0" encoding="utf-8"?>
<a:theme xmlns:a="http://schemas.openxmlformats.org/drawingml/2006/main" name="EMIF template">
  <a:themeElements>
    <a:clrScheme name="EMIF colours">
      <a:dk1>
        <a:srgbClr val="000000"/>
      </a:dk1>
      <a:lt1>
        <a:sysClr val="window" lastClr="FFFFFF"/>
      </a:lt1>
      <a:dk2>
        <a:srgbClr val="254CA0"/>
      </a:dk2>
      <a:lt2>
        <a:srgbClr val="FFFFFF"/>
      </a:lt2>
      <a:accent1>
        <a:srgbClr val="254CA0"/>
      </a:accent1>
      <a:accent2>
        <a:srgbClr val="4EAE4E"/>
      </a:accent2>
      <a:accent3>
        <a:srgbClr val="7187C1"/>
      </a:accent3>
      <a:accent4>
        <a:srgbClr val="8064A2"/>
      </a:accent4>
      <a:accent5>
        <a:srgbClr val="A4C98E"/>
      </a:accent5>
      <a:accent6>
        <a:srgbClr val="F79646"/>
      </a:accent6>
      <a:hlink>
        <a:srgbClr val="00B0F0"/>
      </a:hlink>
      <a:folHlink>
        <a:srgbClr val="800080"/>
      </a:folHlink>
    </a:clrScheme>
    <a:fontScheme name="EMIF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33222</TotalTime>
  <Words>715</Words>
  <Application>Microsoft Office PowerPoint</Application>
  <PresentationFormat>Widescreen</PresentationFormat>
  <Paragraphs>122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Helvetica Neue</vt:lpstr>
      <vt:lpstr>Monaco</vt:lpstr>
      <vt:lpstr>Wingdings</vt:lpstr>
      <vt:lpstr>EMIF template</vt:lpstr>
      <vt:lpstr>Phishing email detection through linguistic patterns and sentiment analysis</vt:lpstr>
      <vt:lpstr>Motivation</vt:lpstr>
      <vt:lpstr>State Of The Art</vt:lpstr>
      <vt:lpstr>Research Gap</vt:lpstr>
      <vt:lpstr>Dataset Requirements</vt:lpstr>
      <vt:lpstr>Dataset Creation</vt:lpstr>
      <vt:lpstr>Dataset Annotation</vt:lpstr>
      <vt:lpstr>Preliminary Results</vt:lpstr>
      <vt:lpstr>Work Plan Proposal</vt:lpstr>
      <vt:lpstr>Thank You!</vt:lpstr>
    </vt:vector>
  </TitlesOfParts>
  <Manager/>
  <Company>UA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PDE</dc:title>
  <dc:subject/>
  <dc:creator>José Luis Oliveira</dc:creator>
  <cp:keywords/>
  <dc:description/>
  <cp:lastModifiedBy>Daniel Pedrinho</cp:lastModifiedBy>
  <cp:revision>349</cp:revision>
  <cp:lastPrinted>2019-09-13T14:12:05Z</cp:lastPrinted>
  <dcterms:created xsi:type="dcterms:W3CDTF">2013-09-12T12:41:43Z</dcterms:created>
  <dcterms:modified xsi:type="dcterms:W3CDTF">2026-01-16T11:24:48Z</dcterms:modified>
  <cp:category/>
</cp:coreProperties>
</file>