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60" r:id="rId4"/>
    <p:sldId id="259" r:id="rId5"/>
    <p:sldId id="258" r:id="rId6"/>
    <p:sldId id="261" r:id="rId7"/>
    <p:sldId id="266" r:id="rId8"/>
    <p:sldId id="262" r:id="rId9"/>
    <p:sldId id="263" r:id="rId10"/>
    <p:sldId id="264" r:id="rId11"/>
    <p:sldId id="265" r:id="rId12"/>
  </p:sldIdLst>
  <p:sldSz cx="12192000" cy="6858000"/>
  <p:notesSz cx="6805613" cy="99441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393" userDrawn="1">
          <p15:clr>
            <a:srgbClr val="A4A3A4"/>
          </p15:clr>
        </p15:guide>
        <p15:guide id="4" pos="7305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lídio Oliveira" initials="IO" lastIdx="2" clrIdx="0">
    <p:extLst>
      <p:ext uri="{19B8F6BF-5375-455C-9EA6-DF929625EA0E}">
        <p15:presenceInfo xmlns:p15="http://schemas.microsoft.com/office/powerpoint/2012/main" userId="S::ico@ua.pt::2e6e6f6d-fff9-46ef-9091-884c6980c73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A4A4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41"/>
    <p:restoredTop sz="78301" autoAdjust="0"/>
  </p:normalViewPr>
  <p:slideViewPr>
    <p:cSldViewPr snapToGrid="0">
      <p:cViewPr varScale="1">
        <p:scale>
          <a:sx n="64" d="100"/>
          <a:sy n="64" d="100"/>
        </p:scale>
        <p:origin x="1320" y="72"/>
      </p:cViewPr>
      <p:guideLst>
        <p:guide orient="horz" pos="2160"/>
        <p:guide pos="3840"/>
        <p:guide pos="393"/>
        <p:guide pos="7305"/>
      </p:guideLst>
    </p:cSldViewPr>
  </p:slideViewPr>
  <p:outlineViewPr>
    <p:cViewPr>
      <p:scale>
        <a:sx n="33" d="100"/>
        <a:sy n="33" d="100"/>
      </p:scale>
      <p:origin x="0" y="-6644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5" d="100"/>
        <a:sy n="145" d="100"/>
      </p:scale>
      <p:origin x="0" y="1676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ea typeface="+mn-ea"/>
                <a:cs typeface="+mn-cs"/>
              </a:defRPr>
            </a:lvl1pPr>
          </a:lstStyle>
          <a:p>
            <a:pPr>
              <a:defRPr/>
            </a:pPr>
            <a:fld id="{8EFD9D37-A775-CE45-B921-68D592DCA8B7}" type="datetimeFigureOut">
              <a:rPr lang="en-US"/>
              <a:pPr>
                <a:defRPr/>
              </a:pPr>
              <a:t>19-Jan-26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>
                <a:ea typeface="+mn-ea"/>
                <a:cs typeface="+mn-cs"/>
              </a:defRPr>
            </a:lvl1pPr>
          </a:lstStyle>
          <a:p>
            <a:pPr>
              <a:defRPr/>
            </a:pPr>
            <a:fld id="{3BEAF6FA-A1A8-B54C-B405-E45F373A6B8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94620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ea typeface="+mn-ea"/>
                <a:cs typeface="+mn-cs"/>
              </a:defRPr>
            </a:lvl1pPr>
          </a:lstStyle>
          <a:p>
            <a:pPr>
              <a:defRPr/>
            </a:pPr>
            <a:fld id="{F9F373F6-AB6D-3948-B9A6-C223395DEAFB}" type="datetimeFigureOut">
              <a:rPr lang="en-US"/>
              <a:pPr>
                <a:defRPr/>
              </a:pPr>
              <a:t>19-Jan-26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8900" y="746125"/>
            <a:ext cx="6629400" cy="37290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1038" y="4722813"/>
            <a:ext cx="5443537" cy="44751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>
                <a:ea typeface="+mn-ea"/>
                <a:cs typeface="+mn-cs"/>
              </a:defRPr>
            </a:lvl1pPr>
          </a:lstStyle>
          <a:p>
            <a:pPr>
              <a:defRPr/>
            </a:pPr>
            <a:fld id="{B973E424-A531-7149-99CE-1FD710C32BF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237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8900" y="746125"/>
            <a:ext cx="6629400" cy="37290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973E424-A531-7149-99CE-1FD710C32BFF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7485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Attacks lead to data breaches and financial losses: According to the FBI IC3 Report over USD 70 Million in phishing related losses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973E424-A531-7149-99CE-1FD710C32BFF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06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Rule-based and Blacklist Systems: System that relied on manually set rules and known malicious senders and </a:t>
            </a:r>
            <a:r>
              <a:rPr lang="en-US" dirty="0" err="1"/>
              <a:t>url</a:t>
            </a:r>
            <a:r>
              <a:rPr lang="en-US" dirty="0"/>
              <a:t> blacklists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Classical Machine Learning: Uses supervised machine learning models trained on manually engineered features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Deep Learning and Transformer Models: Automatically learn semantic representations from raw email content. These models achieve state-of-the-art accuracy and are especially effective at capturing contextual meaning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973E424-A531-7149-99CE-1FD710C32BFF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795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650555"/>
            <a:ext cx="10363200" cy="1056325"/>
          </a:xfrm>
        </p:spPr>
        <p:txBody>
          <a:bodyPr anchor="t"/>
          <a:lstStyle>
            <a:lvl1pPr algn="l">
              <a:defRPr lang="en-US" sz="2800" b="1" kern="1200" dirty="0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pt-PT" dirty="0" err="1"/>
              <a:t>Title</a:t>
            </a:r>
            <a:endParaRPr lang="en-US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2CA189C-64E7-6E4C-9A26-9A8BDC2947B8}"/>
              </a:ext>
            </a:extLst>
          </p:cNvPr>
          <p:cNvSpPr txBox="1">
            <a:spLocks/>
          </p:cNvSpPr>
          <p:nvPr userDrawn="1"/>
        </p:nvSpPr>
        <p:spPr bwMode="auto">
          <a:xfrm>
            <a:off x="2804160" y="3058160"/>
            <a:ext cx="8473440" cy="302768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Clr>
                <a:srgbClr val="339933"/>
              </a:buClr>
              <a:buSzPct val="100000"/>
              <a:buFont typeface="Wingdings" pitchFamily="2" charset="2"/>
              <a:buNone/>
              <a:tabLst/>
              <a:defRPr sz="2400" kern="1200">
                <a:solidFill>
                  <a:schemeClr val="accent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  <a:lvl2pPr marL="457200" indent="0" algn="ctr" rtl="0" fontAlgn="base">
              <a:spcBef>
                <a:spcPct val="20000"/>
              </a:spcBef>
              <a:spcAft>
                <a:spcPct val="0"/>
              </a:spcAft>
              <a:buFont typeface="Wingdings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2pPr>
            <a:lvl3pPr marL="914400" indent="0" algn="ctr" rtl="0" fontAlgn="base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tabLst>
                <a:tab pos="355600" algn="l"/>
                <a:tab pos="812800" algn="l"/>
                <a:tab pos="1168400" algn="l"/>
                <a:tab pos="1524000" algn="l"/>
                <a:tab pos="1879600" algn="l"/>
                <a:tab pos="2247900" algn="l"/>
              </a:tabLst>
              <a:defRPr sz="1600" kern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3pPr>
            <a:lvl4pPr marL="1371600" indent="0" algn="ctr" rtl="0" fontAlgn="base">
              <a:spcBef>
                <a:spcPct val="20000"/>
              </a:spcBef>
              <a:spcAft>
                <a:spcPct val="0"/>
              </a:spcAft>
              <a:buFont typeface="Arial" charset="0"/>
              <a:buNone/>
              <a:tabLst>
                <a:tab pos="623888" algn="l"/>
                <a:tab pos="901700" algn="l"/>
                <a:tab pos="1258888" algn="l"/>
                <a:tab pos="1616075" algn="l"/>
                <a:tab pos="1971675" algn="l"/>
                <a:tab pos="2328863" algn="l"/>
              </a:tabLst>
              <a:defRPr sz="16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4pPr>
            <a:lvl5pPr marL="1828800" indent="0" algn="ctr" rtl="0" fontAlgn="base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Gill Sans" charset="0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30B8F6-3BDB-7E4E-85A7-A7AFF8CD0B24}"/>
              </a:ext>
            </a:extLst>
          </p:cNvPr>
          <p:cNvSpPr txBox="1"/>
          <p:nvPr userDrawn="1"/>
        </p:nvSpPr>
        <p:spPr>
          <a:xfrm>
            <a:off x="914400" y="1782763"/>
            <a:ext cx="1818323" cy="10259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400"/>
              </a:spcBef>
            </a:pPr>
            <a:r>
              <a:rPr lang="en-US" sz="1800" dirty="0">
                <a:solidFill>
                  <a:srgbClr val="002060"/>
                </a:solidFill>
              </a:rPr>
              <a:t>Student:</a:t>
            </a:r>
          </a:p>
          <a:p>
            <a:pPr algn="r">
              <a:spcBef>
                <a:spcPts val="400"/>
              </a:spcBef>
            </a:pPr>
            <a:r>
              <a:rPr lang="en-US" sz="1800" dirty="0">
                <a:solidFill>
                  <a:srgbClr val="002060"/>
                </a:solidFill>
              </a:rPr>
              <a:t>Supervisor:</a:t>
            </a:r>
          </a:p>
          <a:p>
            <a:pPr algn="r">
              <a:spcBef>
                <a:spcPts val="400"/>
              </a:spcBef>
            </a:pPr>
            <a:r>
              <a:rPr lang="en-US" sz="1800" dirty="0">
                <a:solidFill>
                  <a:srgbClr val="002060"/>
                </a:solidFill>
              </a:rPr>
              <a:t>Co-supervisors:</a:t>
            </a:r>
            <a:endParaRPr lang="en-GB" sz="1800" dirty="0">
              <a:solidFill>
                <a:srgbClr val="00206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0361D7-893B-504C-81E0-17DE4C097F16}"/>
              </a:ext>
            </a:extLst>
          </p:cNvPr>
          <p:cNvSpPr txBox="1"/>
          <p:nvPr userDrawn="1"/>
        </p:nvSpPr>
        <p:spPr>
          <a:xfrm>
            <a:off x="914400" y="2930907"/>
            <a:ext cx="1818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400"/>
              </a:spcBef>
            </a:pPr>
            <a:r>
              <a:rPr lang="en-US" sz="1800" dirty="0">
                <a:solidFill>
                  <a:srgbClr val="002060"/>
                </a:solidFill>
              </a:rPr>
              <a:t>Summary: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7A166B-C75D-0C45-8EBC-1E7D1B0422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32723" y="2936875"/>
            <a:ext cx="8544877" cy="3148965"/>
          </a:xfrm>
        </p:spPr>
        <p:txBody>
          <a:bodyPr/>
          <a:lstStyle>
            <a:lvl1pPr marL="30162" indent="0">
              <a:buNone/>
              <a:defRPr sz="1800"/>
            </a:lvl1pPr>
          </a:lstStyle>
          <a:p>
            <a:pPr lvl="0"/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4A74CC2-A676-5847-8817-24B9D808738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733320" y="1782763"/>
            <a:ext cx="8544280" cy="1027112"/>
          </a:xfrm>
        </p:spPr>
        <p:txBody>
          <a:bodyPr/>
          <a:lstStyle>
            <a:lvl1pPr marL="30162" indent="0">
              <a:buNone/>
              <a:defRPr sz="1800"/>
            </a:lvl1pPr>
          </a:lstStyle>
          <a:p>
            <a:pPr lvl="0"/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8FE1A9-D3C2-8448-992B-9C8E56E1486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DETI / MEI / PDE / 2025-26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9BD66-3131-AA42-B0C3-B08008E0B7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11A60DBD-E382-F849-BC67-D242363A158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950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0"/>
            <a:ext cx="10972800" cy="1124744"/>
          </a:xfrm>
        </p:spPr>
        <p:txBody>
          <a:bodyPr/>
          <a:lstStyle>
            <a:lvl1pPr algn="l">
              <a:defRPr sz="3200" b="1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  <a:lvl2pPr>
              <a:defRPr>
                <a:solidFill>
                  <a:schemeClr val="accent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2pPr>
            <a:lvl3pPr marL="981075" indent="-188913">
              <a:buFont typeface="Arial"/>
              <a:buChar char="•"/>
              <a:defRPr>
                <a:solidFill>
                  <a:schemeClr val="accent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3pPr>
            <a:lvl4pPr>
              <a:defRPr sz="1400" b="1">
                <a:solidFill>
                  <a:srgbClr val="0000FF"/>
                </a:solidFill>
                <a:latin typeface="Monaco"/>
                <a:cs typeface="Monaco"/>
              </a:defRPr>
            </a:lvl4pPr>
            <a:lvl5pPr>
              <a:defRPr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050" smtClean="0">
                <a:solidFill>
                  <a:srgbClr val="89898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6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 sz="1100" dirty="0">
                <a:solidFill>
                  <a:prstClr val="black">
                    <a:tint val="7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r>
              <a:rPr lang="en-US"/>
              <a:t>DETI / MEI / PDE / 2025-26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20C9C0-4E53-0746-BDFE-B4C991EF30E2}"/>
              </a:ext>
            </a:extLst>
          </p:cNvPr>
          <p:cNvCxnSpPr/>
          <p:nvPr userDrawn="1"/>
        </p:nvCxnSpPr>
        <p:spPr>
          <a:xfrm flipV="1">
            <a:off x="609600" y="1097281"/>
            <a:ext cx="10972800" cy="15875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192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/>
          <p:cNvCxnSpPr/>
          <p:nvPr userDrawn="1"/>
        </p:nvCxnSpPr>
        <p:spPr>
          <a:xfrm flipV="1">
            <a:off x="609600" y="1117601"/>
            <a:ext cx="10972800" cy="15875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0"/>
            <a:ext cx="10955868" cy="1124744"/>
          </a:xfrm>
        </p:spPr>
        <p:txBody>
          <a:bodyPr/>
          <a:lstStyle>
            <a:lvl1pPr algn="l">
              <a:defRPr sz="3200" b="1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 smtClean="0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fld id="{E54CCB69-97BF-5844-985F-B8001A0E28D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5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 sz="1100" dirty="0">
                <a:solidFill>
                  <a:srgbClr val="89898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r>
              <a:rPr lang="en-US"/>
              <a:t>DETI / MEI / PDE / 2025-26</a:t>
            </a:r>
          </a:p>
        </p:txBody>
      </p:sp>
    </p:spTree>
    <p:extLst>
      <p:ext uri="{BB962C8B-B14F-4D97-AF65-F5344CB8AC3E}">
        <p14:creationId xmlns:p14="http://schemas.microsoft.com/office/powerpoint/2010/main" val="3625191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0"/>
            <a:ext cx="10922000" cy="1124744"/>
          </a:xfrm>
        </p:spPr>
        <p:txBody>
          <a:bodyPr/>
          <a:lstStyle>
            <a:lvl1pPr algn="l">
              <a:defRPr sz="3200" b="1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6"/>
          <p:cNvSpPr>
            <a:spLocks noGrp="1"/>
          </p:cNvSpPr>
          <p:nvPr>
            <p:ph sz="half" idx="1"/>
          </p:nvPr>
        </p:nvSpPr>
        <p:spPr>
          <a:xfrm>
            <a:off x="609600" y="1398183"/>
            <a:ext cx="5334000" cy="4525963"/>
          </a:xfrm>
        </p:spPr>
        <p:txBody>
          <a:bodyPr/>
          <a:lstStyle>
            <a:lvl1pPr>
              <a:defRPr sz="20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Content Placeholder 7"/>
          <p:cNvSpPr>
            <a:spLocks noGrp="1"/>
          </p:cNvSpPr>
          <p:nvPr>
            <p:ph sz="half" idx="2"/>
          </p:nvPr>
        </p:nvSpPr>
        <p:spPr>
          <a:xfrm>
            <a:off x="6220121" y="1398183"/>
            <a:ext cx="5334000" cy="4525963"/>
          </a:xfrm>
        </p:spPr>
        <p:txBody>
          <a:bodyPr/>
          <a:lstStyle>
            <a:lvl1pPr>
              <a:defRPr sz="20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 smtClean="0">
                <a:solidFill>
                  <a:srgbClr val="89898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fld id="{57C4B439-99BB-8D47-B6EC-CE237D17262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 sz="1100" dirty="0">
                <a:solidFill>
                  <a:prstClr val="black">
                    <a:tint val="7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r>
              <a:rPr lang="en-US"/>
              <a:t>DETI / MEI / PDE / 2025-26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BBC331-6258-3E4B-913F-143421016333}"/>
              </a:ext>
            </a:extLst>
          </p:cNvPr>
          <p:cNvCxnSpPr/>
          <p:nvPr userDrawn="1"/>
        </p:nvCxnSpPr>
        <p:spPr>
          <a:xfrm flipV="1">
            <a:off x="609600" y="1117601"/>
            <a:ext cx="10972800" cy="15875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0638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0"/>
            <a:ext cx="10955867" cy="1125538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196975"/>
            <a:ext cx="10972800" cy="4929188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004552" y="6367464"/>
            <a:ext cx="577849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 smtClean="0">
                <a:solidFill>
                  <a:srgbClr val="89898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fld id="{11A60DBD-E382-F849-BC67-D242363A158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4457701" y="6367464"/>
            <a:ext cx="6413500" cy="365125"/>
          </a:xfrm>
          <a:prstGeom prst="rect">
            <a:avLst/>
          </a:prstGeom>
        </p:spPr>
        <p:txBody>
          <a:bodyPr vert="horz" lIns="72000" tIns="45720" rIns="72000" bIns="45720" rtlCol="0" anchor="ctr"/>
          <a:lstStyle>
            <a:lvl1pPr algn="r">
              <a:defRPr sz="1100" dirty="0">
                <a:solidFill>
                  <a:prstClr val="black">
                    <a:tint val="7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r>
              <a:rPr lang="en-US"/>
              <a:t>DETI / MEI / PDE / 2025-26</a:t>
            </a:r>
          </a:p>
        </p:txBody>
      </p:sp>
      <p:cxnSp>
        <p:nvCxnSpPr>
          <p:cNvPr id="3" name="Straight Connector 2"/>
          <p:cNvCxnSpPr/>
          <p:nvPr userDrawn="1"/>
        </p:nvCxnSpPr>
        <p:spPr>
          <a:xfrm>
            <a:off x="10941051" y="6411913"/>
            <a:ext cx="0" cy="28575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1" name="Picture 1"/>
          <p:cNvPicPr>
            <a:picLocks noChangeAspect="1"/>
          </p:cNvPicPr>
          <p:nvPr userDrawn="1"/>
        </p:nvPicPr>
        <p:blipFill>
          <a:blip r:embed="rId6" cstate="email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6411913"/>
            <a:ext cx="853440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>
                    <a:alpha val="50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9" r:id="rId3"/>
    <p:sldLayoutId id="2147483710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3200" b="1" kern="1200">
          <a:solidFill>
            <a:schemeClr val="accent2">
              <a:lumMod val="50000"/>
            </a:schemeClr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fontAlgn="base">
        <a:spcBef>
          <a:spcPct val="0"/>
        </a:spcBef>
        <a:spcAft>
          <a:spcPct val="0"/>
        </a:spcAft>
        <a:defRPr sz="3200">
          <a:solidFill>
            <a:srgbClr val="254061"/>
          </a:solidFill>
          <a:latin typeface="Century Gothic" charset="0"/>
          <a:ea typeface="ＭＳ Ｐゴシック" charset="0"/>
          <a:cs typeface="ＭＳ Ｐゴシック" charset="0"/>
        </a:defRPr>
      </a:lvl2pPr>
      <a:lvl3pPr algn="l" rtl="0" fontAlgn="base">
        <a:spcBef>
          <a:spcPct val="0"/>
        </a:spcBef>
        <a:spcAft>
          <a:spcPct val="0"/>
        </a:spcAft>
        <a:defRPr sz="3200">
          <a:solidFill>
            <a:srgbClr val="254061"/>
          </a:solidFill>
          <a:latin typeface="Century Gothic" charset="0"/>
          <a:ea typeface="ＭＳ Ｐゴシック" charset="0"/>
          <a:cs typeface="ＭＳ Ｐゴシック" charset="0"/>
        </a:defRPr>
      </a:lvl3pPr>
      <a:lvl4pPr algn="l" rtl="0" fontAlgn="base">
        <a:spcBef>
          <a:spcPct val="0"/>
        </a:spcBef>
        <a:spcAft>
          <a:spcPct val="0"/>
        </a:spcAft>
        <a:defRPr sz="3200">
          <a:solidFill>
            <a:srgbClr val="254061"/>
          </a:solidFill>
          <a:latin typeface="Century Gothic" charset="0"/>
          <a:ea typeface="ＭＳ Ｐゴシック" charset="0"/>
          <a:cs typeface="ＭＳ Ｐゴシック" charset="0"/>
        </a:defRPr>
      </a:lvl4pPr>
      <a:lvl5pPr algn="l" rtl="0" fontAlgn="base">
        <a:spcBef>
          <a:spcPct val="0"/>
        </a:spcBef>
        <a:spcAft>
          <a:spcPct val="0"/>
        </a:spcAft>
        <a:defRPr sz="3200">
          <a:solidFill>
            <a:srgbClr val="254061"/>
          </a:solidFill>
          <a:latin typeface="Century Gothic" charset="0"/>
          <a:ea typeface="ＭＳ Ｐゴシック" charset="0"/>
          <a:cs typeface="ＭＳ Ｐゴシック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65125" indent="-334963" algn="l" rtl="0" fontAlgn="base">
        <a:spcBef>
          <a:spcPct val="20000"/>
        </a:spcBef>
        <a:spcAft>
          <a:spcPct val="0"/>
        </a:spcAft>
        <a:buClr>
          <a:srgbClr val="339933"/>
        </a:buClr>
        <a:buSzPct val="100000"/>
        <a:buFont typeface="Wingdings" pitchFamily="2" charset="2"/>
        <a:buChar char="v"/>
        <a:tabLst/>
        <a:defRPr sz="24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Wingdings" pitchFamily="2" charset="2"/>
        <a:buChar char="§"/>
        <a:defRPr sz="2000" kern="1200">
          <a:solidFill>
            <a:srgbClr val="404040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17600" indent="-2540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>
          <a:tab pos="355600" algn="l"/>
          <a:tab pos="812800" algn="l"/>
          <a:tab pos="1168400" algn="l"/>
          <a:tab pos="1524000" algn="l"/>
          <a:tab pos="1879600" algn="l"/>
          <a:tab pos="2247900" algn="l"/>
        </a:tabLst>
        <a:defRPr sz="1600" kern="1200">
          <a:solidFill>
            <a:srgbClr val="404040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357188" algn="l" rtl="0" fontAlgn="base">
        <a:spcBef>
          <a:spcPct val="20000"/>
        </a:spcBef>
        <a:spcAft>
          <a:spcPct val="0"/>
        </a:spcAft>
        <a:buFont typeface="Arial" charset="0"/>
        <a:tabLst>
          <a:tab pos="623888" algn="l"/>
          <a:tab pos="901700" algn="l"/>
          <a:tab pos="1258888" algn="l"/>
          <a:tab pos="1616075" algn="l"/>
          <a:tab pos="1971675" algn="l"/>
          <a:tab pos="2328863" algn="l"/>
        </a:tabLst>
        <a:defRPr sz="1600" kern="1200">
          <a:solidFill>
            <a:srgbClr val="0000FF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charset="0"/>
        <a:buChar char="»"/>
        <a:defRPr sz="1400" kern="1200">
          <a:solidFill>
            <a:srgbClr val="254061"/>
          </a:solidFill>
          <a:latin typeface="Arial" panose="020B0604020202020204" pitchFamily="34" charset="0"/>
          <a:ea typeface="Gill Sans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DFDA9A6-F367-8446-B624-0C83049440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0" dirty="0"/>
              <a:t>Phishing email detection through linguistic</a:t>
            </a:r>
            <a:br>
              <a:rPr lang="en-US" dirty="0"/>
            </a:br>
            <a:r>
              <a:rPr lang="en-US" b="0" dirty="0"/>
              <a:t>patterns and sentiment analysis</a:t>
            </a:r>
            <a:endParaRPr lang="en-GB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276A87C-54F5-1241-AF74-F188FB1470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With the wide usage of e-mail as a communication tool, phishing attacks</a:t>
            </a:r>
            <a:br>
              <a:rPr lang="en-US" dirty="0"/>
            </a:br>
            <a:r>
              <a:rPr lang="en-US" dirty="0"/>
              <a:t>have become increasingly common and sophisticated. This dissertation aims to</a:t>
            </a:r>
            <a:br>
              <a:rPr lang="en-US" dirty="0"/>
            </a:br>
            <a:r>
              <a:rPr lang="en-US" dirty="0"/>
              <a:t>explore </a:t>
            </a:r>
            <a:r>
              <a:rPr lang="en-US" b="1" dirty="0"/>
              <a:t>the use of linguistic patterns</a:t>
            </a:r>
            <a:r>
              <a:rPr lang="en-US" dirty="0"/>
              <a:t> and </a:t>
            </a:r>
            <a:r>
              <a:rPr lang="en-US" b="1" dirty="0"/>
              <a:t>sentiment analysis to detect</a:t>
            </a:r>
            <a:br>
              <a:rPr lang="en-US" b="1" dirty="0"/>
            </a:br>
            <a:r>
              <a:rPr lang="en-US" b="1" dirty="0"/>
              <a:t>phishing emails</a:t>
            </a:r>
            <a:r>
              <a:rPr lang="en-US" dirty="0"/>
              <a:t>. By analyzing the emotional tone and language used in</a:t>
            </a:r>
            <a:br>
              <a:rPr lang="en-US" dirty="0"/>
            </a:br>
            <a:r>
              <a:rPr lang="en-US" dirty="0"/>
              <a:t>emails, we may be able to identify potential phishing attempts and improve email</a:t>
            </a:r>
            <a:br>
              <a:rPr lang="en-US" dirty="0"/>
            </a:br>
            <a:r>
              <a:rPr lang="en-US" dirty="0"/>
              <a:t>security. </a:t>
            </a:r>
            <a:br>
              <a:rPr lang="en-US" dirty="0"/>
            </a:b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6DCE4F7-7142-6442-BB39-DEBC46D06D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Daniel Nascimento Pedrinho</a:t>
            </a:r>
          </a:p>
          <a:p>
            <a:r>
              <a:rPr lang="pt-BR" dirty="0"/>
              <a:t>João Rafael Duarte de Almeida</a:t>
            </a:r>
          </a:p>
          <a:p>
            <a:r>
              <a:rPr lang="pt-BR" dirty="0"/>
              <a:t>Sérgio Guilherme Aleixo de Matos</a:t>
            </a:r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2F491AD-B338-D34D-AB01-5D4B8A34211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DETI / MEI / PDE / 2025-26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B0252E4-9EF7-8749-9068-7AAE3899B8F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11A60DBD-E382-F849-BC67-D242363A1589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D17E-CA27-3943-80DF-1AAF2EBDE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37074-DEEA-FE40-9330-58CFAD9D0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Email as Critical Infrastructure:</a:t>
            </a:r>
          </a:p>
          <a:p>
            <a:pPr lvl="1"/>
            <a:r>
              <a:rPr lang="en-GB" dirty="0"/>
              <a:t>Over 4 billion users and 347 billion emails exchanged daily</a:t>
            </a:r>
          </a:p>
          <a:p>
            <a:r>
              <a:rPr lang="en-US" dirty="0"/>
              <a:t>Escalating Email Security Threats:</a:t>
            </a:r>
          </a:p>
          <a:p>
            <a:pPr lvl="1"/>
            <a:r>
              <a:rPr lang="en-US" dirty="0"/>
              <a:t>Attacks lead to data breaches and financial losses</a:t>
            </a:r>
          </a:p>
          <a:p>
            <a:r>
              <a:rPr lang="en-US" dirty="0"/>
              <a:t>Increased Sophistication of Attacks:</a:t>
            </a:r>
          </a:p>
          <a:p>
            <a:pPr lvl="1"/>
            <a:r>
              <a:rPr lang="en-US" dirty="0"/>
              <a:t>Employs usage of social engineering, paired with AI generation</a:t>
            </a:r>
          </a:p>
          <a:p>
            <a:pPr lvl="1"/>
            <a:r>
              <a:rPr lang="en-US" dirty="0"/>
              <a:t>Emotional manipulation disregards technical prowess</a:t>
            </a:r>
          </a:p>
          <a:p>
            <a:r>
              <a:rPr lang="en-US" dirty="0"/>
              <a:t>Novel Defense Approach:</a:t>
            </a:r>
          </a:p>
          <a:p>
            <a:pPr lvl="1"/>
            <a:r>
              <a:rPr lang="en-US" dirty="0"/>
              <a:t>Leverage emotion detection as a defense mechanism</a:t>
            </a:r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F06B7-5AE3-8B4A-901A-53BD09B6E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DETI / MEI / PDE / 2025-26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D1089-536D-1A4F-AA9C-A324816262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897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3CB8F-4165-C1F0-D52A-D84DC1F48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State Of The 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9B953B-C38A-20F6-8E02-D400B92F89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Evolution of Detection Systems:</a:t>
            </a:r>
          </a:p>
          <a:p>
            <a:pPr lvl="1"/>
            <a:r>
              <a:rPr lang="en-US" dirty="0"/>
              <a:t>Rule-based and Blacklist Systems</a:t>
            </a:r>
          </a:p>
          <a:p>
            <a:pPr lvl="1"/>
            <a:r>
              <a:rPr lang="en-US" dirty="0"/>
              <a:t>Classical Machine Learning</a:t>
            </a:r>
          </a:p>
          <a:p>
            <a:pPr lvl="1"/>
            <a:r>
              <a:rPr lang="en-US" dirty="0"/>
              <a:t>Deep Learning and Transformer Models</a:t>
            </a:r>
          </a:p>
          <a:p>
            <a:r>
              <a:rPr lang="en-US" dirty="0"/>
              <a:t>Emerging Role of Sentiment Analysis:</a:t>
            </a:r>
          </a:p>
          <a:p>
            <a:pPr lvl="1"/>
            <a:r>
              <a:rPr lang="en-US" dirty="0"/>
              <a:t>Studies show sentiment-aware features can improve detection</a:t>
            </a:r>
          </a:p>
          <a:p>
            <a:r>
              <a:rPr lang="en-US" dirty="0"/>
              <a:t>Dataset Landscape:</a:t>
            </a:r>
          </a:p>
          <a:p>
            <a:pPr lvl="1"/>
            <a:r>
              <a:rPr lang="en-US" dirty="0"/>
              <a:t>Large-scale datasets exist, providing binary labels</a:t>
            </a:r>
          </a:p>
          <a:p>
            <a:pPr lvl="1"/>
            <a:r>
              <a:rPr lang="en-US" dirty="0"/>
              <a:t>Fine-grained emotional datasets are mostly absent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47B65-3D1E-6A11-ECF9-14ED7C2C96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57C90C-FDB5-C2F1-30B2-80B24FF34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DETI / MEI / PDE / 2025-26</a:t>
            </a:r>
          </a:p>
        </p:txBody>
      </p:sp>
    </p:spTree>
    <p:extLst>
      <p:ext uri="{BB962C8B-B14F-4D97-AF65-F5344CB8AC3E}">
        <p14:creationId xmlns:p14="http://schemas.microsoft.com/office/powerpoint/2010/main" val="3812874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1B80B-D83E-5C90-34C7-DE9A9F7D0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AF797-3D29-9165-D521-910A1BC0F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Research Gap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0951E-41E1-D922-83D5-E0C9B76147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Phishing Remains Fundamentally Psychological:</a:t>
            </a:r>
          </a:p>
          <a:p>
            <a:pPr lvl="1"/>
            <a:r>
              <a:rPr lang="en-US" dirty="0"/>
              <a:t>Emotional manipulation is a primary success factor</a:t>
            </a:r>
          </a:p>
          <a:p>
            <a:r>
              <a:rPr lang="en-US" dirty="0"/>
              <a:t>Lack of Fine-Grained Emotional Annotations:</a:t>
            </a:r>
          </a:p>
          <a:p>
            <a:pPr lvl="1"/>
            <a:r>
              <a:rPr lang="en-US" dirty="0"/>
              <a:t>No publicly available large-scale datasets with emotional labels</a:t>
            </a:r>
          </a:p>
          <a:p>
            <a:pPr lvl="1"/>
            <a:r>
              <a:rPr lang="en-US" dirty="0"/>
              <a:t>Imposes limit on supervised learning for emotional patterns</a:t>
            </a:r>
          </a:p>
          <a:p>
            <a:r>
              <a:rPr lang="en-US" dirty="0"/>
              <a:t>Underexplored Role of Emotion Detection:</a:t>
            </a:r>
          </a:p>
          <a:p>
            <a:pPr lvl="1"/>
            <a:r>
              <a:rPr lang="en-US" dirty="0"/>
              <a:t>Often treated as a secondary feature </a:t>
            </a:r>
          </a:p>
          <a:p>
            <a:pPr lvl="1"/>
            <a:r>
              <a:rPr lang="en-US" dirty="0"/>
              <a:t>Remains peripheral in state-of-the-art systems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0BD22C-FBD4-3289-050E-792307839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DETI / MEI / PDE / 2025-26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D4092E-D427-3040-78F5-A1F2A11751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784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D17E-CA27-3943-80DF-1AAF2EBDE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Dataset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37074-DEEA-FE40-9330-58CFAD9D0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08127"/>
            <a:ext cx="10972800" cy="4929188"/>
          </a:xfrm>
        </p:spPr>
        <p:txBody>
          <a:bodyPr/>
          <a:lstStyle/>
          <a:p>
            <a:r>
              <a:rPr lang="en-GB" dirty="0"/>
              <a:t>No existing datasets fit our research requirements</a:t>
            </a:r>
          </a:p>
          <a:p>
            <a:r>
              <a:rPr lang="en-GB" b="1" dirty="0"/>
              <a:t>Objective</a:t>
            </a:r>
            <a:r>
              <a:rPr lang="en-GB" dirty="0"/>
              <a:t>: Create sizeable, emotion-annotated phishing email dataset</a:t>
            </a:r>
          </a:p>
          <a:p>
            <a:r>
              <a:rPr lang="en-GB" dirty="0"/>
              <a:t>Dataset Characteristics:</a:t>
            </a:r>
          </a:p>
          <a:p>
            <a:pPr lvl="1"/>
            <a:r>
              <a:rPr lang="en-US" dirty="0"/>
              <a:t>Fine-grained emotional annotations</a:t>
            </a:r>
          </a:p>
          <a:p>
            <a:pPr lvl="1"/>
            <a:r>
              <a:rPr lang="en-US" dirty="0"/>
              <a:t>Balanced emotional category distribution</a:t>
            </a:r>
            <a:endParaRPr lang="en-GB" dirty="0"/>
          </a:p>
          <a:p>
            <a:r>
              <a:rPr lang="en-GB" dirty="0"/>
              <a:t>Dataset should support:</a:t>
            </a:r>
          </a:p>
          <a:p>
            <a:pPr lvl="1"/>
            <a:r>
              <a:rPr lang="en-GB" dirty="0"/>
              <a:t> Emotion-Aware Phishing Detection</a:t>
            </a:r>
          </a:p>
          <a:p>
            <a:pPr lvl="1"/>
            <a:r>
              <a:rPr lang="en-GB" dirty="0"/>
              <a:t>Supervised machine learning and evaluation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F98D5C-9ECC-C346-AEB0-258E7C97B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DETI / MEI / PDE / 2025-26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80DF4-B4D0-6548-974A-9C71BB2E2B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6099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56225-E9B7-556D-9C3F-BBFBE3EC7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87329-6F55-4E49-C1BD-ACB8A4136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Methodology:</a:t>
            </a:r>
          </a:p>
          <a:p>
            <a:pPr lvl="1"/>
            <a:r>
              <a:rPr lang="en-US" dirty="0"/>
              <a:t>Use pre-existing curated dataset with 480 entries as baseline</a:t>
            </a:r>
          </a:p>
          <a:p>
            <a:pPr lvl="1"/>
            <a:r>
              <a:rPr lang="en-US" dirty="0"/>
              <a:t>Generated large dataset with 10,000 entries using LLM</a:t>
            </a:r>
          </a:p>
          <a:p>
            <a:r>
              <a:rPr lang="en-US" dirty="0"/>
              <a:t>Post-Processing:</a:t>
            </a:r>
          </a:p>
          <a:p>
            <a:pPr lvl="1"/>
            <a:r>
              <a:rPr lang="en-US" dirty="0"/>
              <a:t>Remove any generated text not part of the email</a:t>
            </a:r>
          </a:p>
          <a:p>
            <a:pPr lvl="1"/>
            <a:r>
              <a:rPr lang="en-US" dirty="0"/>
              <a:t>Replace placeholders with fake generic information</a:t>
            </a:r>
          </a:p>
          <a:p>
            <a:r>
              <a:rPr lang="en-US" dirty="0"/>
              <a:t>Validation:</a:t>
            </a:r>
          </a:p>
          <a:p>
            <a:pPr lvl="1"/>
            <a:r>
              <a:rPr lang="en-US" dirty="0"/>
              <a:t>Dataset is evenly distributed across 14 emotions</a:t>
            </a:r>
          </a:p>
          <a:p>
            <a:pPr lvl="1"/>
            <a:r>
              <a:rPr lang="en-US" dirty="0"/>
              <a:t>Linguistic coherence preserved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EA664-36D4-66DA-F5B1-635956D95F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42FB65-56C3-071F-F00F-7B1ADE041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DETI / MEI / PDE / 2025-26</a:t>
            </a:r>
          </a:p>
        </p:txBody>
      </p:sp>
    </p:spTree>
    <p:extLst>
      <p:ext uri="{BB962C8B-B14F-4D97-AF65-F5344CB8AC3E}">
        <p14:creationId xmlns:p14="http://schemas.microsoft.com/office/powerpoint/2010/main" val="3116249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9D0E7-A7CC-FACB-8E1D-BC71B67C5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Example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5706CA6-CD68-BD50-C100-E80C4313AF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121" y="1554805"/>
            <a:ext cx="10833757" cy="374838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92D9D-A091-47BB-097D-AF80FC57FE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7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1FAF5-A4D9-4B95-264E-AFE09D2C0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DETI / MEI / PDE / 2025-26</a:t>
            </a:r>
          </a:p>
        </p:txBody>
      </p:sp>
    </p:spTree>
    <p:extLst>
      <p:ext uri="{BB962C8B-B14F-4D97-AF65-F5344CB8AC3E}">
        <p14:creationId xmlns:p14="http://schemas.microsoft.com/office/powerpoint/2010/main" val="1488443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85EB4-054C-51CE-8161-1AD06AD1B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Annotation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DD433-00D8-5B0A-0495-C8FBDB940D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Objective</a:t>
            </a:r>
            <a:r>
              <a:rPr lang="en-US" dirty="0"/>
              <a:t>: Create Fully Annotated Dataset</a:t>
            </a:r>
          </a:p>
          <a:p>
            <a:pPr lvl="1"/>
            <a:r>
              <a:rPr lang="en-US" dirty="0"/>
              <a:t>Each entry can have more than one label</a:t>
            </a:r>
          </a:p>
          <a:p>
            <a:pPr lvl="1"/>
            <a:r>
              <a:rPr lang="en-US" dirty="0"/>
              <a:t>Emotion labels derived from existing literature</a:t>
            </a:r>
          </a:p>
          <a:p>
            <a:r>
              <a:rPr lang="en-US" dirty="0"/>
              <a:t>Annotation Procedure:</a:t>
            </a:r>
          </a:p>
          <a:p>
            <a:pPr lvl="1"/>
            <a:r>
              <a:rPr lang="en-US" dirty="0"/>
              <a:t>Emails are reviewed individually</a:t>
            </a:r>
          </a:p>
          <a:p>
            <a:pPr lvl="1"/>
            <a:r>
              <a:rPr lang="en-US" dirty="0"/>
              <a:t>Annotator chooses one or more emotions present in the email</a:t>
            </a:r>
          </a:p>
          <a:p>
            <a:r>
              <a:rPr lang="en-US" dirty="0"/>
              <a:t>Quality Assurance:</a:t>
            </a:r>
          </a:p>
          <a:p>
            <a:pPr lvl="1"/>
            <a:r>
              <a:rPr lang="en-US" dirty="0"/>
              <a:t>Guidelines created to ensure consistency between annotators</a:t>
            </a:r>
          </a:p>
          <a:p>
            <a:pPr lvl="1"/>
            <a:r>
              <a:rPr lang="en-US" dirty="0"/>
              <a:t>“UNSURE” label prevents ambiguous labeling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F8070B-06A3-10BF-C4A7-582919C43A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A3DE33-A99F-247C-DE3F-DFB0D3788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DETI / MEI / PDE / 2025-26</a:t>
            </a:r>
          </a:p>
        </p:txBody>
      </p:sp>
    </p:spTree>
    <p:extLst>
      <p:ext uri="{BB962C8B-B14F-4D97-AF65-F5344CB8AC3E}">
        <p14:creationId xmlns:p14="http://schemas.microsoft.com/office/powerpoint/2010/main" val="665928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A2E01-B1FB-8462-CB42-56830D2C2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Preliminary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E958A1-392F-1138-545B-FC110CE7B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 Creation Process Completed</a:t>
            </a:r>
          </a:p>
          <a:p>
            <a:r>
              <a:rPr lang="en-US" dirty="0"/>
              <a:t>Annotation Process Underway:</a:t>
            </a:r>
          </a:p>
          <a:p>
            <a:pPr lvl="1"/>
            <a:r>
              <a:rPr lang="en-US" dirty="0"/>
              <a:t>1843 entries annotated so far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3026F1-FFA9-8F29-4684-D87B6403D5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9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DD0E32-716D-0D00-A5A9-74BF5A751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DETI / MEI / PDE / 2025-26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A51017-D7F0-AB06-3224-27ECB4DDB8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192" y="2675446"/>
            <a:ext cx="10395284" cy="3450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909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F0C9C-B003-8605-D1DA-144CF04F9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Plan Proposal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0EA03-1027-E2B7-1E16-F6790E336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Phase 1: Phishing Detection Model Development</a:t>
            </a:r>
          </a:p>
          <a:p>
            <a:pPr lvl="1"/>
            <a:r>
              <a:rPr lang="en-US" dirty="0"/>
              <a:t>Model selection, training and evaluation</a:t>
            </a:r>
          </a:p>
          <a:p>
            <a:pPr lvl="1"/>
            <a:r>
              <a:rPr lang="en-US" dirty="0"/>
              <a:t>Parameter optimization</a:t>
            </a:r>
          </a:p>
          <a:p>
            <a:r>
              <a:rPr lang="en-US" dirty="0"/>
              <a:t>Phase 2: Sentiment Analysis Model Development</a:t>
            </a:r>
          </a:p>
          <a:p>
            <a:pPr lvl="1"/>
            <a:r>
              <a:rPr lang="en-US" dirty="0"/>
              <a:t>Capable of identifying emotions with high scoring metrics</a:t>
            </a:r>
          </a:p>
          <a:p>
            <a:r>
              <a:rPr lang="en-US" dirty="0"/>
              <a:t>Phase 3: Web Application Development</a:t>
            </a:r>
          </a:p>
          <a:p>
            <a:pPr lvl="1"/>
            <a:r>
              <a:rPr lang="en-US" dirty="0"/>
              <a:t>Develop RESTful API that integrates models</a:t>
            </a:r>
          </a:p>
          <a:p>
            <a:r>
              <a:rPr lang="en-US" dirty="0"/>
              <a:t>Phase 4: Review and Quality Assurance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6BE715-020A-5BD5-829A-B379763038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10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3EBC8-055F-F140-5189-7457E62B5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DETI / MEI / PDE / 2025-26</a:t>
            </a:r>
          </a:p>
        </p:txBody>
      </p:sp>
    </p:spTree>
    <p:extLst>
      <p:ext uri="{BB962C8B-B14F-4D97-AF65-F5344CB8AC3E}">
        <p14:creationId xmlns:p14="http://schemas.microsoft.com/office/powerpoint/2010/main" val="3326178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6FC03-C9AE-F732-1D16-CABCA0503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802" y="2866628"/>
            <a:ext cx="10972800" cy="1124744"/>
          </a:xfrm>
        </p:spPr>
        <p:txBody>
          <a:bodyPr/>
          <a:lstStyle/>
          <a:p>
            <a:pPr algn="ctr"/>
            <a:r>
              <a:rPr lang="en-US" sz="4400" dirty="0"/>
              <a:t>Thank You!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D465A-DF38-2EA7-AF7C-CCEBC7A633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11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E1F43E-3AA6-FA67-A172-082472A76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DETI / MEI / PDE / 2025-26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72D683-C243-4C7C-E1E9-FD596816DC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148" y="606551"/>
            <a:ext cx="11595926" cy="952583"/>
          </a:xfrm>
          <a:prstGeom prst="rect">
            <a:avLst/>
          </a:prstGeom>
        </p:spPr>
      </p:pic>
      <p:pic>
        <p:nvPicPr>
          <p:cNvPr id="11" name="Gráfico 6">
            <a:extLst>
              <a:ext uri="{FF2B5EF4-FFF2-40B4-BE49-F238E27FC236}">
                <a16:creationId xmlns:a16="http://schemas.microsoft.com/office/drawing/2014/main" id="{E6BCD91E-6C98-6718-3F40-F4B8680B59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7912702" y="2035241"/>
            <a:ext cx="4279298" cy="4332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780608"/>
      </p:ext>
    </p:extLst>
  </p:cSld>
  <p:clrMapOvr>
    <a:masterClrMapping/>
  </p:clrMapOvr>
</p:sld>
</file>

<file path=ppt/theme/theme1.xml><?xml version="1.0" encoding="utf-8"?>
<a:theme xmlns:a="http://schemas.openxmlformats.org/drawingml/2006/main" name="EMIF template">
  <a:themeElements>
    <a:clrScheme name="EMIF colours">
      <a:dk1>
        <a:srgbClr val="000000"/>
      </a:dk1>
      <a:lt1>
        <a:sysClr val="window" lastClr="FFFFFF"/>
      </a:lt1>
      <a:dk2>
        <a:srgbClr val="254CA0"/>
      </a:dk2>
      <a:lt2>
        <a:srgbClr val="FFFFFF"/>
      </a:lt2>
      <a:accent1>
        <a:srgbClr val="254CA0"/>
      </a:accent1>
      <a:accent2>
        <a:srgbClr val="4EAE4E"/>
      </a:accent2>
      <a:accent3>
        <a:srgbClr val="7187C1"/>
      </a:accent3>
      <a:accent4>
        <a:srgbClr val="8064A2"/>
      </a:accent4>
      <a:accent5>
        <a:srgbClr val="A4C98E"/>
      </a:accent5>
      <a:accent6>
        <a:srgbClr val="F79646"/>
      </a:accent6>
      <a:hlink>
        <a:srgbClr val="00B0F0"/>
      </a:hlink>
      <a:folHlink>
        <a:srgbClr val="800080"/>
      </a:folHlink>
    </a:clrScheme>
    <a:fontScheme name="EMIF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33590</TotalTime>
  <Words>649</Words>
  <Application>Microsoft Office PowerPoint</Application>
  <PresentationFormat>Widescreen</PresentationFormat>
  <Paragraphs>110</Paragraphs>
  <Slides>11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Century Gothic</vt:lpstr>
      <vt:lpstr>Helvetica Neue</vt:lpstr>
      <vt:lpstr>Monaco</vt:lpstr>
      <vt:lpstr>Wingdings</vt:lpstr>
      <vt:lpstr>EMIF template</vt:lpstr>
      <vt:lpstr>Phishing email detection through linguistic patterns and sentiment analysis</vt:lpstr>
      <vt:lpstr>Motivation</vt:lpstr>
      <vt:lpstr>State Of The Art</vt:lpstr>
      <vt:lpstr>Research Gap</vt:lpstr>
      <vt:lpstr>Dataset Requirements</vt:lpstr>
      <vt:lpstr>Dataset Creation</vt:lpstr>
      <vt:lpstr>Prompt Example</vt:lpstr>
      <vt:lpstr>Dataset Annotation</vt:lpstr>
      <vt:lpstr>Preliminary Results</vt:lpstr>
      <vt:lpstr>Work Plan Proposal</vt:lpstr>
      <vt:lpstr>Thank You!</vt:lpstr>
    </vt:vector>
  </TitlesOfParts>
  <Manager/>
  <Company>UA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PDE</dc:title>
  <dc:subject/>
  <dc:creator>José Luis Oliveira</dc:creator>
  <cp:keywords/>
  <dc:description/>
  <cp:lastModifiedBy>Daniel Pedrinho</cp:lastModifiedBy>
  <cp:revision>351</cp:revision>
  <cp:lastPrinted>2019-09-13T14:12:05Z</cp:lastPrinted>
  <dcterms:created xsi:type="dcterms:W3CDTF">2013-09-12T12:41:43Z</dcterms:created>
  <dcterms:modified xsi:type="dcterms:W3CDTF">2026-01-19T15:35:58Z</dcterms:modified>
  <cp:category/>
</cp:coreProperties>
</file>